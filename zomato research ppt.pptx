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62" r:id="rId3"/>
    <p:sldId id="257" r:id="rId4"/>
    <p:sldId id="258" r:id="rId5"/>
    <p:sldId id="259" r:id="rId6"/>
    <p:sldId id="260"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56" d="100"/>
          <a:sy n="56" d="100"/>
        </p:scale>
        <p:origin x="208"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E12781-C035-4610-96E1-95CA79C937A4}" type="doc">
      <dgm:prSet loTypeId="urn:microsoft.com/office/officeart/2005/8/layout/process2" loCatId="process" qsTypeId="urn:microsoft.com/office/officeart/2005/8/quickstyle/simple1" qsCatId="simple" csTypeId="urn:microsoft.com/office/officeart/2005/8/colors/accent0_3" csCatId="mainScheme" phldr="1"/>
      <dgm:spPr/>
      <dgm:t>
        <a:bodyPr/>
        <a:lstStyle/>
        <a:p>
          <a:endParaRPr lang="en-IN"/>
        </a:p>
      </dgm:t>
    </dgm:pt>
    <dgm:pt modelId="{BB2816B2-DD1E-4907-A46D-0DCF79F5058D}">
      <dgm:prSet phldrT="[Text]" phldr="0"/>
      <dgm:spPr/>
      <dgm:t>
        <a:bodyPr/>
        <a:lstStyle/>
        <a:p>
          <a:r>
            <a:rPr lang="en-US" dirty="0"/>
            <a:t>Introduction</a:t>
          </a:r>
          <a:endParaRPr lang="en-IN" dirty="0"/>
        </a:p>
      </dgm:t>
    </dgm:pt>
    <dgm:pt modelId="{44E45ACB-F0F2-4EC9-99AF-1274A944EA75}" type="parTrans" cxnId="{8DFD8015-CF45-423F-AF81-D164282254E3}">
      <dgm:prSet/>
      <dgm:spPr/>
      <dgm:t>
        <a:bodyPr/>
        <a:lstStyle/>
        <a:p>
          <a:endParaRPr lang="en-IN"/>
        </a:p>
      </dgm:t>
    </dgm:pt>
    <dgm:pt modelId="{B9AF7CF5-E80D-4620-84E6-379DC4808206}" type="sibTrans" cxnId="{8DFD8015-CF45-423F-AF81-D164282254E3}">
      <dgm:prSet/>
      <dgm:spPr/>
      <dgm:t>
        <a:bodyPr/>
        <a:lstStyle/>
        <a:p>
          <a:endParaRPr lang="en-IN"/>
        </a:p>
      </dgm:t>
    </dgm:pt>
    <dgm:pt modelId="{881A739A-39FC-4A9A-95F6-DD5764157AD8}">
      <dgm:prSet phldrT="[Text]" phldr="0"/>
      <dgm:spPr/>
      <dgm:t>
        <a:bodyPr/>
        <a:lstStyle/>
        <a:p>
          <a:r>
            <a:rPr lang="en-US" dirty="0"/>
            <a:t>Literature survey</a:t>
          </a:r>
          <a:endParaRPr lang="en-IN" dirty="0"/>
        </a:p>
      </dgm:t>
    </dgm:pt>
    <dgm:pt modelId="{F19497AE-EB5E-4846-AD64-B294DA5421EF}" type="parTrans" cxnId="{4B5227C2-B3CC-4DA5-B7C8-CFF1E4974C8B}">
      <dgm:prSet/>
      <dgm:spPr/>
      <dgm:t>
        <a:bodyPr/>
        <a:lstStyle/>
        <a:p>
          <a:endParaRPr lang="en-IN"/>
        </a:p>
      </dgm:t>
    </dgm:pt>
    <dgm:pt modelId="{414EE879-C28C-47BA-96E7-6229879A47B2}" type="sibTrans" cxnId="{4B5227C2-B3CC-4DA5-B7C8-CFF1E4974C8B}">
      <dgm:prSet/>
      <dgm:spPr/>
      <dgm:t>
        <a:bodyPr/>
        <a:lstStyle/>
        <a:p>
          <a:endParaRPr lang="en-IN"/>
        </a:p>
      </dgm:t>
    </dgm:pt>
    <dgm:pt modelId="{5ECB3791-C572-46D7-A89C-316164B5D4BB}">
      <dgm:prSet phldrT="[Text]" phldr="0"/>
      <dgm:spPr/>
      <dgm:t>
        <a:bodyPr/>
        <a:lstStyle/>
        <a:p>
          <a:r>
            <a:rPr lang="en-US" dirty="0"/>
            <a:t>Tools/methods used to conduct the study</a:t>
          </a:r>
          <a:endParaRPr lang="en-IN" dirty="0"/>
        </a:p>
      </dgm:t>
    </dgm:pt>
    <dgm:pt modelId="{ABC6FD9B-C2D2-4AFE-B578-3A7E7C799773}" type="parTrans" cxnId="{7DF0C546-99C6-43A2-9AD4-4FF718509759}">
      <dgm:prSet/>
      <dgm:spPr/>
      <dgm:t>
        <a:bodyPr/>
        <a:lstStyle/>
        <a:p>
          <a:endParaRPr lang="en-IN"/>
        </a:p>
      </dgm:t>
    </dgm:pt>
    <dgm:pt modelId="{EFE4B778-1F58-426F-8923-F465345868A3}" type="sibTrans" cxnId="{7DF0C546-99C6-43A2-9AD4-4FF718509759}">
      <dgm:prSet/>
      <dgm:spPr/>
      <dgm:t>
        <a:bodyPr/>
        <a:lstStyle/>
        <a:p>
          <a:endParaRPr lang="en-IN"/>
        </a:p>
      </dgm:t>
    </dgm:pt>
    <dgm:pt modelId="{07014B9C-E839-4D70-97BC-C6D2FE92A381}">
      <dgm:prSet phldrT="[Text]" phldr="0"/>
      <dgm:spPr/>
      <dgm:t>
        <a:bodyPr/>
        <a:lstStyle/>
        <a:p>
          <a:r>
            <a:rPr lang="en-US" dirty="0"/>
            <a:t>Results </a:t>
          </a:r>
          <a:r>
            <a:rPr lang="en-US" dirty="0" err="1"/>
            <a:t>ans</a:t>
          </a:r>
          <a:r>
            <a:rPr lang="en-US" dirty="0"/>
            <a:t> discussion</a:t>
          </a:r>
          <a:endParaRPr lang="en-IN" dirty="0"/>
        </a:p>
      </dgm:t>
    </dgm:pt>
    <dgm:pt modelId="{B31F07AF-2040-41DA-B881-BF4636E68FF0}" type="parTrans" cxnId="{50888D04-1AD3-4F8E-ADF8-C0E7931E8B82}">
      <dgm:prSet/>
      <dgm:spPr/>
      <dgm:t>
        <a:bodyPr/>
        <a:lstStyle/>
        <a:p>
          <a:endParaRPr lang="en-IN"/>
        </a:p>
      </dgm:t>
    </dgm:pt>
    <dgm:pt modelId="{AA2DB6C4-D0BC-4B81-BE5B-253824A8F8F1}" type="sibTrans" cxnId="{50888D04-1AD3-4F8E-ADF8-C0E7931E8B82}">
      <dgm:prSet/>
      <dgm:spPr/>
      <dgm:t>
        <a:bodyPr/>
        <a:lstStyle/>
        <a:p>
          <a:endParaRPr lang="en-IN"/>
        </a:p>
      </dgm:t>
    </dgm:pt>
    <dgm:pt modelId="{74321C9F-5CDF-413C-88B3-2D87BEBD52CE}">
      <dgm:prSet phldrT="[Text]" phldr="0"/>
      <dgm:spPr/>
      <dgm:t>
        <a:bodyPr/>
        <a:lstStyle/>
        <a:p>
          <a:r>
            <a:rPr lang="en-US" dirty="0"/>
            <a:t>Conclusion</a:t>
          </a:r>
          <a:endParaRPr lang="en-IN" dirty="0"/>
        </a:p>
      </dgm:t>
    </dgm:pt>
    <dgm:pt modelId="{4C6AF99E-8861-4E25-8790-F172C5CF0F1E}" type="parTrans" cxnId="{C533C3C8-18DB-478A-B6C5-3AC836994B0B}">
      <dgm:prSet/>
      <dgm:spPr/>
      <dgm:t>
        <a:bodyPr/>
        <a:lstStyle/>
        <a:p>
          <a:endParaRPr lang="en-IN"/>
        </a:p>
      </dgm:t>
    </dgm:pt>
    <dgm:pt modelId="{F0E9025D-DDE9-4977-A870-3C9764576B77}" type="sibTrans" cxnId="{C533C3C8-18DB-478A-B6C5-3AC836994B0B}">
      <dgm:prSet/>
      <dgm:spPr/>
      <dgm:t>
        <a:bodyPr/>
        <a:lstStyle/>
        <a:p>
          <a:endParaRPr lang="en-IN"/>
        </a:p>
      </dgm:t>
    </dgm:pt>
    <dgm:pt modelId="{70C01C47-273D-4FC5-8F2A-3F4F15E09F14}" type="pres">
      <dgm:prSet presAssocID="{C3E12781-C035-4610-96E1-95CA79C937A4}" presName="linearFlow" presStyleCnt="0">
        <dgm:presLayoutVars>
          <dgm:resizeHandles val="exact"/>
        </dgm:presLayoutVars>
      </dgm:prSet>
      <dgm:spPr/>
    </dgm:pt>
    <dgm:pt modelId="{9D7C7BB7-51BE-43D1-A30E-6F9399FF041A}" type="pres">
      <dgm:prSet presAssocID="{BB2816B2-DD1E-4907-A46D-0DCF79F5058D}" presName="node" presStyleLbl="node1" presStyleIdx="0" presStyleCnt="5">
        <dgm:presLayoutVars>
          <dgm:bulletEnabled val="1"/>
        </dgm:presLayoutVars>
      </dgm:prSet>
      <dgm:spPr/>
    </dgm:pt>
    <dgm:pt modelId="{FA110C39-5C21-42BE-8079-169EC1023132}" type="pres">
      <dgm:prSet presAssocID="{B9AF7CF5-E80D-4620-84E6-379DC4808206}" presName="sibTrans" presStyleLbl="sibTrans2D1" presStyleIdx="0" presStyleCnt="4"/>
      <dgm:spPr/>
    </dgm:pt>
    <dgm:pt modelId="{41D1A3AD-3488-420E-9551-7242A92F1E41}" type="pres">
      <dgm:prSet presAssocID="{B9AF7CF5-E80D-4620-84E6-379DC4808206}" presName="connectorText" presStyleLbl="sibTrans2D1" presStyleIdx="0" presStyleCnt="4"/>
      <dgm:spPr/>
    </dgm:pt>
    <dgm:pt modelId="{9954639A-ED98-4C48-BBCE-4FB5E1E8AC06}" type="pres">
      <dgm:prSet presAssocID="{881A739A-39FC-4A9A-95F6-DD5764157AD8}" presName="node" presStyleLbl="node1" presStyleIdx="1" presStyleCnt="5">
        <dgm:presLayoutVars>
          <dgm:bulletEnabled val="1"/>
        </dgm:presLayoutVars>
      </dgm:prSet>
      <dgm:spPr/>
    </dgm:pt>
    <dgm:pt modelId="{0F01DD81-C773-4128-AD4E-E470CF117885}" type="pres">
      <dgm:prSet presAssocID="{414EE879-C28C-47BA-96E7-6229879A47B2}" presName="sibTrans" presStyleLbl="sibTrans2D1" presStyleIdx="1" presStyleCnt="4"/>
      <dgm:spPr/>
    </dgm:pt>
    <dgm:pt modelId="{1C4B8460-2C24-4FCA-91F5-5F9E838F39D1}" type="pres">
      <dgm:prSet presAssocID="{414EE879-C28C-47BA-96E7-6229879A47B2}" presName="connectorText" presStyleLbl="sibTrans2D1" presStyleIdx="1" presStyleCnt="4"/>
      <dgm:spPr/>
    </dgm:pt>
    <dgm:pt modelId="{60517136-BF2D-45E2-B39C-31161F481EF3}" type="pres">
      <dgm:prSet presAssocID="{5ECB3791-C572-46D7-A89C-316164B5D4BB}" presName="node" presStyleLbl="node1" presStyleIdx="2" presStyleCnt="5">
        <dgm:presLayoutVars>
          <dgm:bulletEnabled val="1"/>
        </dgm:presLayoutVars>
      </dgm:prSet>
      <dgm:spPr/>
    </dgm:pt>
    <dgm:pt modelId="{77F42C05-FDCF-4586-AE8F-3BA2C155644E}" type="pres">
      <dgm:prSet presAssocID="{EFE4B778-1F58-426F-8923-F465345868A3}" presName="sibTrans" presStyleLbl="sibTrans2D1" presStyleIdx="2" presStyleCnt="4"/>
      <dgm:spPr/>
    </dgm:pt>
    <dgm:pt modelId="{C0339518-783C-4A43-B489-55B5ADE25FD6}" type="pres">
      <dgm:prSet presAssocID="{EFE4B778-1F58-426F-8923-F465345868A3}" presName="connectorText" presStyleLbl="sibTrans2D1" presStyleIdx="2" presStyleCnt="4"/>
      <dgm:spPr/>
    </dgm:pt>
    <dgm:pt modelId="{A2F3E43A-E357-4B64-A30D-6B0AEBB8148F}" type="pres">
      <dgm:prSet presAssocID="{07014B9C-E839-4D70-97BC-C6D2FE92A381}" presName="node" presStyleLbl="node1" presStyleIdx="3" presStyleCnt="5">
        <dgm:presLayoutVars>
          <dgm:bulletEnabled val="1"/>
        </dgm:presLayoutVars>
      </dgm:prSet>
      <dgm:spPr/>
    </dgm:pt>
    <dgm:pt modelId="{F3C47F35-8C48-450F-9D2B-49EB4D39E7CE}" type="pres">
      <dgm:prSet presAssocID="{AA2DB6C4-D0BC-4B81-BE5B-253824A8F8F1}" presName="sibTrans" presStyleLbl="sibTrans2D1" presStyleIdx="3" presStyleCnt="4"/>
      <dgm:spPr/>
    </dgm:pt>
    <dgm:pt modelId="{FC363281-1726-4698-8ABF-0336CC010859}" type="pres">
      <dgm:prSet presAssocID="{AA2DB6C4-D0BC-4B81-BE5B-253824A8F8F1}" presName="connectorText" presStyleLbl="sibTrans2D1" presStyleIdx="3" presStyleCnt="4"/>
      <dgm:spPr/>
    </dgm:pt>
    <dgm:pt modelId="{11FC37F3-1444-43A2-8263-EFFDCAC4A3F6}" type="pres">
      <dgm:prSet presAssocID="{74321C9F-5CDF-413C-88B3-2D87BEBD52CE}" presName="node" presStyleLbl="node1" presStyleIdx="4" presStyleCnt="5">
        <dgm:presLayoutVars>
          <dgm:bulletEnabled val="1"/>
        </dgm:presLayoutVars>
      </dgm:prSet>
      <dgm:spPr/>
    </dgm:pt>
  </dgm:ptLst>
  <dgm:cxnLst>
    <dgm:cxn modelId="{50888D04-1AD3-4F8E-ADF8-C0E7931E8B82}" srcId="{C3E12781-C035-4610-96E1-95CA79C937A4}" destId="{07014B9C-E839-4D70-97BC-C6D2FE92A381}" srcOrd="3" destOrd="0" parTransId="{B31F07AF-2040-41DA-B881-BF4636E68FF0}" sibTransId="{AA2DB6C4-D0BC-4B81-BE5B-253824A8F8F1}"/>
    <dgm:cxn modelId="{8DFD8015-CF45-423F-AF81-D164282254E3}" srcId="{C3E12781-C035-4610-96E1-95CA79C937A4}" destId="{BB2816B2-DD1E-4907-A46D-0DCF79F5058D}" srcOrd="0" destOrd="0" parTransId="{44E45ACB-F0F2-4EC9-99AF-1274A944EA75}" sibTransId="{B9AF7CF5-E80D-4620-84E6-379DC4808206}"/>
    <dgm:cxn modelId="{6224CA23-0EB4-4EA6-9088-85A5CEDECD28}" type="presOf" srcId="{C3E12781-C035-4610-96E1-95CA79C937A4}" destId="{70C01C47-273D-4FC5-8F2A-3F4F15E09F14}" srcOrd="0" destOrd="0" presId="urn:microsoft.com/office/officeart/2005/8/layout/process2"/>
    <dgm:cxn modelId="{5FF77E28-C004-4621-B020-341B47732CA8}" type="presOf" srcId="{414EE879-C28C-47BA-96E7-6229879A47B2}" destId="{1C4B8460-2C24-4FCA-91F5-5F9E838F39D1}" srcOrd="1" destOrd="0" presId="urn:microsoft.com/office/officeart/2005/8/layout/process2"/>
    <dgm:cxn modelId="{DE83B22D-AE4D-431B-A2D0-C4D9BA6F2442}" type="presOf" srcId="{BB2816B2-DD1E-4907-A46D-0DCF79F5058D}" destId="{9D7C7BB7-51BE-43D1-A30E-6F9399FF041A}" srcOrd="0" destOrd="0" presId="urn:microsoft.com/office/officeart/2005/8/layout/process2"/>
    <dgm:cxn modelId="{F1F8FE30-D3A1-4071-A221-F9AA48752401}" type="presOf" srcId="{B9AF7CF5-E80D-4620-84E6-379DC4808206}" destId="{41D1A3AD-3488-420E-9551-7242A92F1E41}" srcOrd="1" destOrd="0" presId="urn:microsoft.com/office/officeart/2005/8/layout/process2"/>
    <dgm:cxn modelId="{31C28D35-5DF7-4663-915D-92799EC9B09F}" type="presOf" srcId="{5ECB3791-C572-46D7-A89C-316164B5D4BB}" destId="{60517136-BF2D-45E2-B39C-31161F481EF3}" srcOrd="0" destOrd="0" presId="urn:microsoft.com/office/officeart/2005/8/layout/process2"/>
    <dgm:cxn modelId="{5605A23D-B765-4C32-B1C2-C51409EA79C7}" type="presOf" srcId="{B9AF7CF5-E80D-4620-84E6-379DC4808206}" destId="{FA110C39-5C21-42BE-8079-169EC1023132}" srcOrd="0" destOrd="0" presId="urn:microsoft.com/office/officeart/2005/8/layout/process2"/>
    <dgm:cxn modelId="{2EE7243E-210B-45FD-9276-CE8C5273C121}" type="presOf" srcId="{07014B9C-E839-4D70-97BC-C6D2FE92A381}" destId="{A2F3E43A-E357-4B64-A30D-6B0AEBB8148F}" srcOrd="0" destOrd="0" presId="urn:microsoft.com/office/officeart/2005/8/layout/process2"/>
    <dgm:cxn modelId="{2737EB42-E568-4BA8-AD21-9D561419E02B}" type="presOf" srcId="{EFE4B778-1F58-426F-8923-F465345868A3}" destId="{77F42C05-FDCF-4586-AE8F-3BA2C155644E}" srcOrd="0" destOrd="0" presId="urn:microsoft.com/office/officeart/2005/8/layout/process2"/>
    <dgm:cxn modelId="{7DF0C546-99C6-43A2-9AD4-4FF718509759}" srcId="{C3E12781-C035-4610-96E1-95CA79C937A4}" destId="{5ECB3791-C572-46D7-A89C-316164B5D4BB}" srcOrd="2" destOrd="0" parTransId="{ABC6FD9B-C2D2-4AFE-B578-3A7E7C799773}" sibTransId="{EFE4B778-1F58-426F-8923-F465345868A3}"/>
    <dgm:cxn modelId="{B1886268-147C-4CBF-BFCA-47B9F2D65D12}" type="presOf" srcId="{414EE879-C28C-47BA-96E7-6229879A47B2}" destId="{0F01DD81-C773-4128-AD4E-E470CF117885}" srcOrd="0" destOrd="0" presId="urn:microsoft.com/office/officeart/2005/8/layout/process2"/>
    <dgm:cxn modelId="{2C2F1C75-79A0-4034-B3FF-C5AEE9ADB031}" type="presOf" srcId="{74321C9F-5CDF-413C-88B3-2D87BEBD52CE}" destId="{11FC37F3-1444-43A2-8263-EFFDCAC4A3F6}" srcOrd="0" destOrd="0" presId="urn:microsoft.com/office/officeart/2005/8/layout/process2"/>
    <dgm:cxn modelId="{8F3C768A-F1F4-40F8-B07C-EF43F389CF67}" type="presOf" srcId="{AA2DB6C4-D0BC-4B81-BE5B-253824A8F8F1}" destId="{FC363281-1726-4698-8ABF-0336CC010859}" srcOrd="1" destOrd="0" presId="urn:microsoft.com/office/officeart/2005/8/layout/process2"/>
    <dgm:cxn modelId="{0DEC349B-70E9-45F7-9BE5-27D1A434E018}" type="presOf" srcId="{EFE4B778-1F58-426F-8923-F465345868A3}" destId="{C0339518-783C-4A43-B489-55B5ADE25FD6}" srcOrd="1" destOrd="0" presId="urn:microsoft.com/office/officeart/2005/8/layout/process2"/>
    <dgm:cxn modelId="{036BE3AF-7DE1-4F6B-9310-07B3D67F7112}" type="presOf" srcId="{881A739A-39FC-4A9A-95F6-DD5764157AD8}" destId="{9954639A-ED98-4C48-BBCE-4FB5E1E8AC06}" srcOrd="0" destOrd="0" presId="urn:microsoft.com/office/officeart/2005/8/layout/process2"/>
    <dgm:cxn modelId="{4B5227C2-B3CC-4DA5-B7C8-CFF1E4974C8B}" srcId="{C3E12781-C035-4610-96E1-95CA79C937A4}" destId="{881A739A-39FC-4A9A-95F6-DD5764157AD8}" srcOrd="1" destOrd="0" parTransId="{F19497AE-EB5E-4846-AD64-B294DA5421EF}" sibTransId="{414EE879-C28C-47BA-96E7-6229879A47B2}"/>
    <dgm:cxn modelId="{915D57C2-4A48-447B-A8AF-CA4B23B02E3D}" type="presOf" srcId="{AA2DB6C4-D0BC-4B81-BE5B-253824A8F8F1}" destId="{F3C47F35-8C48-450F-9D2B-49EB4D39E7CE}" srcOrd="0" destOrd="0" presId="urn:microsoft.com/office/officeart/2005/8/layout/process2"/>
    <dgm:cxn modelId="{C533C3C8-18DB-478A-B6C5-3AC836994B0B}" srcId="{C3E12781-C035-4610-96E1-95CA79C937A4}" destId="{74321C9F-5CDF-413C-88B3-2D87BEBD52CE}" srcOrd="4" destOrd="0" parTransId="{4C6AF99E-8861-4E25-8790-F172C5CF0F1E}" sibTransId="{F0E9025D-DDE9-4977-A870-3C9764576B77}"/>
    <dgm:cxn modelId="{4577B3BE-8000-4F27-B966-FD29EAF3F974}" type="presParOf" srcId="{70C01C47-273D-4FC5-8F2A-3F4F15E09F14}" destId="{9D7C7BB7-51BE-43D1-A30E-6F9399FF041A}" srcOrd="0" destOrd="0" presId="urn:microsoft.com/office/officeart/2005/8/layout/process2"/>
    <dgm:cxn modelId="{92FC8D28-58B7-4065-9FF6-38C4CBEC18EB}" type="presParOf" srcId="{70C01C47-273D-4FC5-8F2A-3F4F15E09F14}" destId="{FA110C39-5C21-42BE-8079-169EC1023132}" srcOrd="1" destOrd="0" presId="urn:microsoft.com/office/officeart/2005/8/layout/process2"/>
    <dgm:cxn modelId="{36A56BA2-6139-4346-9BC4-5AED0EF40358}" type="presParOf" srcId="{FA110C39-5C21-42BE-8079-169EC1023132}" destId="{41D1A3AD-3488-420E-9551-7242A92F1E41}" srcOrd="0" destOrd="0" presId="urn:microsoft.com/office/officeart/2005/8/layout/process2"/>
    <dgm:cxn modelId="{7A149FA1-B1C3-42BB-B5B0-865637B103AB}" type="presParOf" srcId="{70C01C47-273D-4FC5-8F2A-3F4F15E09F14}" destId="{9954639A-ED98-4C48-BBCE-4FB5E1E8AC06}" srcOrd="2" destOrd="0" presId="urn:microsoft.com/office/officeart/2005/8/layout/process2"/>
    <dgm:cxn modelId="{5BC94006-85C9-414E-9F55-DB3AAED3BF2B}" type="presParOf" srcId="{70C01C47-273D-4FC5-8F2A-3F4F15E09F14}" destId="{0F01DD81-C773-4128-AD4E-E470CF117885}" srcOrd="3" destOrd="0" presId="urn:microsoft.com/office/officeart/2005/8/layout/process2"/>
    <dgm:cxn modelId="{32F7E25E-DD98-4FC0-9D8A-CBB4B8297701}" type="presParOf" srcId="{0F01DD81-C773-4128-AD4E-E470CF117885}" destId="{1C4B8460-2C24-4FCA-91F5-5F9E838F39D1}" srcOrd="0" destOrd="0" presId="urn:microsoft.com/office/officeart/2005/8/layout/process2"/>
    <dgm:cxn modelId="{A898BF9D-A5B1-4E64-ACB9-0B46403C408B}" type="presParOf" srcId="{70C01C47-273D-4FC5-8F2A-3F4F15E09F14}" destId="{60517136-BF2D-45E2-B39C-31161F481EF3}" srcOrd="4" destOrd="0" presId="urn:microsoft.com/office/officeart/2005/8/layout/process2"/>
    <dgm:cxn modelId="{E060D354-A7F2-49A1-80A6-46D07D117442}" type="presParOf" srcId="{70C01C47-273D-4FC5-8F2A-3F4F15E09F14}" destId="{77F42C05-FDCF-4586-AE8F-3BA2C155644E}" srcOrd="5" destOrd="0" presId="urn:microsoft.com/office/officeart/2005/8/layout/process2"/>
    <dgm:cxn modelId="{D26D42D6-0A95-4184-AFDA-5C03D8F2A3F4}" type="presParOf" srcId="{77F42C05-FDCF-4586-AE8F-3BA2C155644E}" destId="{C0339518-783C-4A43-B489-55B5ADE25FD6}" srcOrd="0" destOrd="0" presId="urn:microsoft.com/office/officeart/2005/8/layout/process2"/>
    <dgm:cxn modelId="{ED68A55F-E72E-4C2A-890D-50E66BA2074A}" type="presParOf" srcId="{70C01C47-273D-4FC5-8F2A-3F4F15E09F14}" destId="{A2F3E43A-E357-4B64-A30D-6B0AEBB8148F}" srcOrd="6" destOrd="0" presId="urn:microsoft.com/office/officeart/2005/8/layout/process2"/>
    <dgm:cxn modelId="{AC8F1A85-0E19-4C70-B9C0-9A5B027FA1C2}" type="presParOf" srcId="{70C01C47-273D-4FC5-8F2A-3F4F15E09F14}" destId="{F3C47F35-8C48-450F-9D2B-49EB4D39E7CE}" srcOrd="7" destOrd="0" presId="urn:microsoft.com/office/officeart/2005/8/layout/process2"/>
    <dgm:cxn modelId="{D6E54461-417A-4800-AF7E-89AC2282E9A4}" type="presParOf" srcId="{F3C47F35-8C48-450F-9D2B-49EB4D39E7CE}" destId="{FC363281-1726-4698-8ABF-0336CC010859}" srcOrd="0" destOrd="0" presId="urn:microsoft.com/office/officeart/2005/8/layout/process2"/>
    <dgm:cxn modelId="{7E1EF21B-6E16-4BC4-9319-93644B40ECD1}" type="presParOf" srcId="{70C01C47-273D-4FC5-8F2A-3F4F15E09F14}" destId="{11FC37F3-1444-43A2-8263-EFFDCAC4A3F6}" srcOrd="8"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7C7BB7-51BE-43D1-A30E-6F9399FF041A}">
      <dsp:nvSpPr>
        <dsp:cNvPr id="0" name=""/>
        <dsp:cNvSpPr/>
      </dsp:nvSpPr>
      <dsp:spPr>
        <a:xfrm>
          <a:off x="1626164" y="619"/>
          <a:ext cx="2126493" cy="72468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Introduction</a:t>
          </a:r>
          <a:endParaRPr lang="en-IN" sz="1800" kern="1200" dirty="0"/>
        </a:p>
      </dsp:txBody>
      <dsp:txXfrm>
        <a:off x="1647389" y="21844"/>
        <a:ext cx="2084043" cy="682233"/>
      </dsp:txXfrm>
    </dsp:sp>
    <dsp:sp modelId="{FA110C39-5C21-42BE-8079-169EC1023132}">
      <dsp:nvSpPr>
        <dsp:cNvPr id="0" name=""/>
        <dsp:cNvSpPr/>
      </dsp:nvSpPr>
      <dsp:spPr>
        <a:xfrm rot="5400000">
          <a:off x="2553533" y="743419"/>
          <a:ext cx="271756" cy="326107"/>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p>
      </dsp:txBody>
      <dsp:txXfrm rot="-5400000">
        <a:off x="2591579" y="770595"/>
        <a:ext cx="195665" cy="190229"/>
      </dsp:txXfrm>
    </dsp:sp>
    <dsp:sp modelId="{9954639A-ED98-4C48-BBCE-4FB5E1E8AC06}">
      <dsp:nvSpPr>
        <dsp:cNvPr id="0" name=""/>
        <dsp:cNvSpPr/>
      </dsp:nvSpPr>
      <dsp:spPr>
        <a:xfrm>
          <a:off x="1626164" y="1087644"/>
          <a:ext cx="2126493" cy="72468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Literature survey</a:t>
          </a:r>
          <a:endParaRPr lang="en-IN" sz="1800" kern="1200" dirty="0"/>
        </a:p>
      </dsp:txBody>
      <dsp:txXfrm>
        <a:off x="1647389" y="1108869"/>
        <a:ext cx="2084043" cy="682233"/>
      </dsp:txXfrm>
    </dsp:sp>
    <dsp:sp modelId="{0F01DD81-C773-4128-AD4E-E470CF117885}">
      <dsp:nvSpPr>
        <dsp:cNvPr id="0" name=""/>
        <dsp:cNvSpPr/>
      </dsp:nvSpPr>
      <dsp:spPr>
        <a:xfrm rot="5400000">
          <a:off x="2553533" y="1830445"/>
          <a:ext cx="271756" cy="326107"/>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p>
      </dsp:txBody>
      <dsp:txXfrm rot="-5400000">
        <a:off x="2591579" y="1857621"/>
        <a:ext cx="195665" cy="190229"/>
      </dsp:txXfrm>
    </dsp:sp>
    <dsp:sp modelId="{60517136-BF2D-45E2-B39C-31161F481EF3}">
      <dsp:nvSpPr>
        <dsp:cNvPr id="0" name=""/>
        <dsp:cNvSpPr/>
      </dsp:nvSpPr>
      <dsp:spPr>
        <a:xfrm>
          <a:off x="1626164" y="2174669"/>
          <a:ext cx="2126493" cy="72468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Tools/methods used to conduct the study</a:t>
          </a:r>
          <a:endParaRPr lang="en-IN" sz="1800" kern="1200" dirty="0"/>
        </a:p>
      </dsp:txBody>
      <dsp:txXfrm>
        <a:off x="1647389" y="2195894"/>
        <a:ext cx="2084043" cy="682233"/>
      </dsp:txXfrm>
    </dsp:sp>
    <dsp:sp modelId="{77F42C05-FDCF-4586-AE8F-3BA2C155644E}">
      <dsp:nvSpPr>
        <dsp:cNvPr id="0" name=""/>
        <dsp:cNvSpPr/>
      </dsp:nvSpPr>
      <dsp:spPr>
        <a:xfrm rot="5400000">
          <a:off x="2553533" y="2917470"/>
          <a:ext cx="271756" cy="326107"/>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p>
      </dsp:txBody>
      <dsp:txXfrm rot="-5400000">
        <a:off x="2591579" y="2944646"/>
        <a:ext cx="195665" cy="190229"/>
      </dsp:txXfrm>
    </dsp:sp>
    <dsp:sp modelId="{A2F3E43A-E357-4B64-A30D-6B0AEBB8148F}">
      <dsp:nvSpPr>
        <dsp:cNvPr id="0" name=""/>
        <dsp:cNvSpPr/>
      </dsp:nvSpPr>
      <dsp:spPr>
        <a:xfrm>
          <a:off x="1626164" y="3261694"/>
          <a:ext cx="2126493" cy="72468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Results </a:t>
          </a:r>
          <a:r>
            <a:rPr lang="en-US" sz="1800" kern="1200" dirty="0" err="1"/>
            <a:t>ans</a:t>
          </a:r>
          <a:r>
            <a:rPr lang="en-US" sz="1800" kern="1200" dirty="0"/>
            <a:t> discussion</a:t>
          </a:r>
          <a:endParaRPr lang="en-IN" sz="1800" kern="1200" dirty="0"/>
        </a:p>
      </dsp:txBody>
      <dsp:txXfrm>
        <a:off x="1647389" y="3282919"/>
        <a:ext cx="2084043" cy="682233"/>
      </dsp:txXfrm>
    </dsp:sp>
    <dsp:sp modelId="{F3C47F35-8C48-450F-9D2B-49EB4D39E7CE}">
      <dsp:nvSpPr>
        <dsp:cNvPr id="0" name=""/>
        <dsp:cNvSpPr/>
      </dsp:nvSpPr>
      <dsp:spPr>
        <a:xfrm rot="5400000">
          <a:off x="2553533" y="4004495"/>
          <a:ext cx="271756" cy="326107"/>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p>
      </dsp:txBody>
      <dsp:txXfrm rot="-5400000">
        <a:off x="2591579" y="4031671"/>
        <a:ext cx="195665" cy="190229"/>
      </dsp:txXfrm>
    </dsp:sp>
    <dsp:sp modelId="{11FC37F3-1444-43A2-8263-EFFDCAC4A3F6}">
      <dsp:nvSpPr>
        <dsp:cNvPr id="0" name=""/>
        <dsp:cNvSpPr/>
      </dsp:nvSpPr>
      <dsp:spPr>
        <a:xfrm>
          <a:off x="1626164" y="4348720"/>
          <a:ext cx="2126493" cy="72468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Conclusion</a:t>
          </a:r>
          <a:endParaRPr lang="en-IN" sz="1800" kern="1200" dirty="0"/>
        </a:p>
      </dsp:txBody>
      <dsp:txXfrm>
        <a:off x="1647389" y="4369945"/>
        <a:ext cx="2084043" cy="682233"/>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www.prnewswire.com/in/news-releases/upskilling-startup-almabetter-partners-with-woolf-to-deliver-accredited-degrees-to-thousands-of-online-learners-301889750.html" TargetMode="External"/><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8C977-A4CC-52EC-1643-447E5E8C4B2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548FD4B-4F04-B60B-E4D2-24E5E63608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9AA5156-54E6-059B-1B9E-CD43BA51FF90}"/>
              </a:ext>
            </a:extLst>
          </p:cNvPr>
          <p:cNvSpPr>
            <a:spLocks noGrp="1"/>
          </p:cNvSpPr>
          <p:nvPr>
            <p:ph type="dt" sz="half" idx="10"/>
          </p:nvPr>
        </p:nvSpPr>
        <p:spPr/>
        <p:txBody>
          <a:bodyPr/>
          <a:lstStyle/>
          <a:p>
            <a:fld id="{A6D6EA1D-4484-4A3F-A4BF-6F1F42CF5C20}" type="datetimeFigureOut">
              <a:rPr lang="en-IN" smtClean="0"/>
              <a:t>30-08-2025</a:t>
            </a:fld>
            <a:endParaRPr lang="en-IN"/>
          </a:p>
        </p:txBody>
      </p:sp>
      <p:sp>
        <p:nvSpPr>
          <p:cNvPr id="5" name="Footer Placeholder 4">
            <a:extLst>
              <a:ext uri="{FF2B5EF4-FFF2-40B4-BE49-F238E27FC236}">
                <a16:creationId xmlns:a16="http://schemas.microsoft.com/office/drawing/2014/main" id="{0A48653D-927D-CFF6-DC21-9EF0DCDD5C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750693-FFF7-6FE1-F53D-224CCD0A3695}"/>
              </a:ext>
            </a:extLst>
          </p:cNvPr>
          <p:cNvSpPr>
            <a:spLocks noGrp="1"/>
          </p:cNvSpPr>
          <p:nvPr>
            <p:ph type="sldNum" sz="quarter" idx="12"/>
          </p:nvPr>
        </p:nvSpPr>
        <p:spPr/>
        <p:txBody>
          <a:bodyPr/>
          <a:lstStyle/>
          <a:p>
            <a:fld id="{06A7256D-7193-42BF-A9AF-35D0D7F18244}" type="slidenum">
              <a:rPr lang="en-IN" smtClean="0"/>
              <a:t>‹#›</a:t>
            </a:fld>
            <a:endParaRPr lang="en-IN"/>
          </a:p>
        </p:txBody>
      </p:sp>
    </p:spTree>
    <p:extLst>
      <p:ext uri="{BB962C8B-B14F-4D97-AF65-F5344CB8AC3E}">
        <p14:creationId xmlns:p14="http://schemas.microsoft.com/office/powerpoint/2010/main" val="25649829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5CAA9-CC52-F122-068E-1AFC9A33C9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6BBFF0-EF0A-5A82-1F98-F3E3B561A1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12E190-EEA9-AA09-9E3D-DC9A161313EE}"/>
              </a:ext>
            </a:extLst>
          </p:cNvPr>
          <p:cNvSpPr>
            <a:spLocks noGrp="1"/>
          </p:cNvSpPr>
          <p:nvPr>
            <p:ph type="dt" sz="half" idx="10"/>
          </p:nvPr>
        </p:nvSpPr>
        <p:spPr/>
        <p:txBody>
          <a:bodyPr/>
          <a:lstStyle/>
          <a:p>
            <a:fld id="{A6D6EA1D-4484-4A3F-A4BF-6F1F42CF5C20}" type="datetimeFigureOut">
              <a:rPr lang="en-IN" smtClean="0"/>
              <a:t>30-08-2025</a:t>
            </a:fld>
            <a:endParaRPr lang="en-IN"/>
          </a:p>
        </p:txBody>
      </p:sp>
      <p:sp>
        <p:nvSpPr>
          <p:cNvPr id="5" name="Footer Placeholder 4">
            <a:extLst>
              <a:ext uri="{FF2B5EF4-FFF2-40B4-BE49-F238E27FC236}">
                <a16:creationId xmlns:a16="http://schemas.microsoft.com/office/drawing/2014/main" id="{D200B0E4-00FA-F582-BE7A-014ED75EC5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30995B-9812-B1FD-F755-8108E2942E79}"/>
              </a:ext>
            </a:extLst>
          </p:cNvPr>
          <p:cNvSpPr>
            <a:spLocks noGrp="1"/>
          </p:cNvSpPr>
          <p:nvPr>
            <p:ph type="sldNum" sz="quarter" idx="12"/>
          </p:nvPr>
        </p:nvSpPr>
        <p:spPr/>
        <p:txBody>
          <a:bodyPr/>
          <a:lstStyle/>
          <a:p>
            <a:fld id="{06A7256D-7193-42BF-A9AF-35D0D7F18244}" type="slidenum">
              <a:rPr lang="en-IN" smtClean="0"/>
              <a:t>‹#›</a:t>
            </a:fld>
            <a:endParaRPr lang="en-IN"/>
          </a:p>
        </p:txBody>
      </p:sp>
    </p:spTree>
    <p:extLst>
      <p:ext uri="{BB962C8B-B14F-4D97-AF65-F5344CB8AC3E}">
        <p14:creationId xmlns:p14="http://schemas.microsoft.com/office/powerpoint/2010/main" val="372912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DB671-FAE5-5CE2-5FCE-430D4A88AD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C0AAB5E-502A-FD4D-B2C1-2214A013C6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A0303A-9F25-9C4B-2F9A-2CDD008760DA}"/>
              </a:ext>
            </a:extLst>
          </p:cNvPr>
          <p:cNvSpPr>
            <a:spLocks noGrp="1"/>
          </p:cNvSpPr>
          <p:nvPr>
            <p:ph type="dt" sz="half" idx="10"/>
          </p:nvPr>
        </p:nvSpPr>
        <p:spPr/>
        <p:txBody>
          <a:bodyPr/>
          <a:lstStyle/>
          <a:p>
            <a:fld id="{A6D6EA1D-4484-4A3F-A4BF-6F1F42CF5C20}" type="datetimeFigureOut">
              <a:rPr lang="en-IN" smtClean="0"/>
              <a:t>30-08-2025</a:t>
            </a:fld>
            <a:endParaRPr lang="en-IN"/>
          </a:p>
        </p:txBody>
      </p:sp>
      <p:sp>
        <p:nvSpPr>
          <p:cNvPr id="5" name="Footer Placeholder 4">
            <a:extLst>
              <a:ext uri="{FF2B5EF4-FFF2-40B4-BE49-F238E27FC236}">
                <a16:creationId xmlns:a16="http://schemas.microsoft.com/office/drawing/2014/main" id="{3EE8B7BD-3C6E-B384-ADBB-798081AC7D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C604D9-6F9F-6CEF-6909-77E9AF5E6077}"/>
              </a:ext>
            </a:extLst>
          </p:cNvPr>
          <p:cNvSpPr>
            <a:spLocks noGrp="1"/>
          </p:cNvSpPr>
          <p:nvPr>
            <p:ph type="sldNum" sz="quarter" idx="12"/>
          </p:nvPr>
        </p:nvSpPr>
        <p:spPr/>
        <p:txBody>
          <a:bodyPr/>
          <a:lstStyle/>
          <a:p>
            <a:fld id="{06A7256D-7193-42BF-A9AF-35D0D7F18244}" type="slidenum">
              <a:rPr lang="en-IN" smtClean="0"/>
              <a:t>‹#›</a:t>
            </a:fld>
            <a:endParaRPr lang="en-IN"/>
          </a:p>
        </p:txBody>
      </p:sp>
    </p:spTree>
    <p:extLst>
      <p:ext uri="{BB962C8B-B14F-4D97-AF65-F5344CB8AC3E}">
        <p14:creationId xmlns:p14="http://schemas.microsoft.com/office/powerpoint/2010/main" val="35007272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4EFDB-6941-7BD1-0917-913BE609C0A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A5C4AC6-951B-7B26-6345-B0FED4E53DC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0EFDEB2-F22C-9AAD-F751-608A961377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8FF1F01-4A44-58DB-0CBC-6D659D09320D}"/>
              </a:ext>
            </a:extLst>
          </p:cNvPr>
          <p:cNvSpPr>
            <a:spLocks noGrp="1"/>
          </p:cNvSpPr>
          <p:nvPr>
            <p:ph type="dt" sz="half" idx="10"/>
          </p:nvPr>
        </p:nvSpPr>
        <p:spPr/>
        <p:txBody>
          <a:bodyPr/>
          <a:lstStyle/>
          <a:p>
            <a:fld id="{A6D6EA1D-4484-4A3F-A4BF-6F1F42CF5C20}" type="datetimeFigureOut">
              <a:rPr lang="en-IN" smtClean="0"/>
              <a:t>30-08-2025</a:t>
            </a:fld>
            <a:endParaRPr lang="en-IN"/>
          </a:p>
        </p:txBody>
      </p:sp>
      <p:sp>
        <p:nvSpPr>
          <p:cNvPr id="6" name="Footer Placeholder 5">
            <a:extLst>
              <a:ext uri="{FF2B5EF4-FFF2-40B4-BE49-F238E27FC236}">
                <a16:creationId xmlns:a16="http://schemas.microsoft.com/office/drawing/2014/main" id="{AA90F0D2-A151-B650-92F5-A2A97D3638D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8BB5D1-BF9E-8259-AE03-ED250A62A479}"/>
              </a:ext>
            </a:extLst>
          </p:cNvPr>
          <p:cNvSpPr>
            <a:spLocks noGrp="1"/>
          </p:cNvSpPr>
          <p:nvPr>
            <p:ph type="sldNum" sz="quarter" idx="12"/>
          </p:nvPr>
        </p:nvSpPr>
        <p:spPr/>
        <p:txBody>
          <a:bodyPr/>
          <a:lstStyle/>
          <a:p>
            <a:fld id="{06A7256D-7193-42BF-A9AF-35D0D7F18244}" type="slidenum">
              <a:rPr lang="en-IN" smtClean="0"/>
              <a:t>‹#›</a:t>
            </a:fld>
            <a:endParaRPr lang="en-IN"/>
          </a:p>
        </p:txBody>
      </p:sp>
    </p:spTree>
    <p:extLst>
      <p:ext uri="{BB962C8B-B14F-4D97-AF65-F5344CB8AC3E}">
        <p14:creationId xmlns:p14="http://schemas.microsoft.com/office/powerpoint/2010/main" val="3553067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D4A3C-81CE-5C19-6589-18756130963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5FFA9C6-B5DC-6090-A91B-87CA1D9182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B715BD-02C1-B2BF-8741-644F5F8A90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04F312F-58ED-E773-7DA9-2E34B9BB62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7F0708-8759-420F-B2CD-BA7C1CC168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C0E1379-1FD7-5B1A-7417-8A5C2132A788}"/>
              </a:ext>
            </a:extLst>
          </p:cNvPr>
          <p:cNvSpPr>
            <a:spLocks noGrp="1"/>
          </p:cNvSpPr>
          <p:nvPr>
            <p:ph type="dt" sz="half" idx="10"/>
          </p:nvPr>
        </p:nvSpPr>
        <p:spPr/>
        <p:txBody>
          <a:bodyPr/>
          <a:lstStyle/>
          <a:p>
            <a:fld id="{A6D6EA1D-4484-4A3F-A4BF-6F1F42CF5C20}" type="datetimeFigureOut">
              <a:rPr lang="en-IN" smtClean="0"/>
              <a:t>30-08-2025</a:t>
            </a:fld>
            <a:endParaRPr lang="en-IN"/>
          </a:p>
        </p:txBody>
      </p:sp>
      <p:sp>
        <p:nvSpPr>
          <p:cNvPr id="8" name="Footer Placeholder 7">
            <a:extLst>
              <a:ext uri="{FF2B5EF4-FFF2-40B4-BE49-F238E27FC236}">
                <a16:creationId xmlns:a16="http://schemas.microsoft.com/office/drawing/2014/main" id="{BC5CBC3B-2AF7-3C1E-585E-53FD230F7D8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415F2B2-A08C-A630-A8C7-A5BE71DEB358}"/>
              </a:ext>
            </a:extLst>
          </p:cNvPr>
          <p:cNvSpPr>
            <a:spLocks noGrp="1"/>
          </p:cNvSpPr>
          <p:nvPr>
            <p:ph type="sldNum" sz="quarter" idx="12"/>
          </p:nvPr>
        </p:nvSpPr>
        <p:spPr/>
        <p:txBody>
          <a:bodyPr/>
          <a:lstStyle/>
          <a:p>
            <a:fld id="{06A7256D-7193-42BF-A9AF-35D0D7F18244}" type="slidenum">
              <a:rPr lang="en-IN" smtClean="0"/>
              <a:t>‹#›</a:t>
            </a:fld>
            <a:endParaRPr lang="en-IN"/>
          </a:p>
        </p:txBody>
      </p:sp>
    </p:spTree>
    <p:extLst>
      <p:ext uri="{BB962C8B-B14F-4D97-AF65-F5344CB8AC3E}">
        <p14:creationId xmlns:p14="http://schemas.microsoft.com/office/powerpoint/2010/main" val="844087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AE315-EE00-336A-B777-56943531E7B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B824758-1DDC-7523-0827-66409CA2E86A}"/>
              </a:ext>
            </a:extLst>
          </p:cNvPr>
          <p:cNvSpPr>
            <a:spLocks noGrp="1"/>
          </p:cNvSpPr>
          <p:nvPr>
            <p:ph type="dt" sz="half" idx="10"/>
          </p:nvPr>
        </p:nvSpPr>
        <p:spPr/>
        <p:txBody>
          <a:bodyPr/>
          <a:lstStyle/>
          <a:p>
            <a:fld id="{A6D6EA1D-4484-4A3F-A4BF-6F1F42CF5C20}" type="datetimeFigureOut">
              <a:rPr lang="en-IN" smtClean="0"/>
              <a:t>30-08-2025</a:t>
            </a:fld>
            <a:endParaRPr lang="en-IN"/>
          </a:p>
        </p:txBody>
      </p:sp>
      <p:sp>
        <p:nvSpPr>
          <p:cNvPr id="4" name="Footer Placeholder 3">
            <a:extLst>
              <a:ext uri="{FF2B5EF4-FFF2-40B4-BE49-F238E27FC236}">
                <a16:creationId xmlns:a16="http://schemas.microsoft.com/office/drawing/2014/main" id="{6EEB5899-C212-59F7-C253-8D34096BDD4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81F0417-B47A-CDA4-8A6A-C4A9F2A82FE4}"/>
              </a:ext>
            </a:extLst>
          </p:cNvPr>
          <p:cNvSpPr>
            <a:spLocks noGrp="1"/>
          </p:cNvSpPr>
          <p:nvPr>
            <p:ph type="sldNum" sz="quarter" idx="12"/>
          </p:nvPr>
        </p:nvSpPr>
        <p:spPr/>
        <p:txBody>
          <a:bodyPr/>
          <a:lstStyle/>
          <a:p>
            <a:fld id="{06A7256D-7193-42BF-A9AF-35D0D7F18244}" type="slidenum">
              <a:rPr lang="en-IN" smtClean="0"/>
              <a:t>‹#›</a:t>
            </a:fld>
            <a:endParaRPr lang="en-IN"/>
          </a:p>
        </p:txBody>
      </p:sp>
    </p:spTree>
    <p:extLst>
      <p:ext uri="{BB962C8B-B14F-4D97-AF65-F5344CB8AC3E}">
        <p14:creationId xmlns:p14="http://schemas.microsoft.com/office/powerpoint/2010/main" val="3316456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Ref idx="1003">
        <a:schemeClr val="bg1"/>
      </p:bgRef>
    </p:bg>
    <p:spTree>
      <p:nvGrpSpPr>
        <p:cNvPr id="1" name=""/>
        <p:cNvGrpSpPr/>
        <p:nvPr/>
      </p:nvGrpSpPr>
      <p:grpSpPr>
        <a:xfrm>
          <a:off x="0" y="0"/>
          <a:ext cx="0" cy="0"/>
          <a:chOff x="0" y="0"/>
          <a:chExt cx="0" cy="0"/>
        </a:xfrm>
      </p:grpSpPr>
      <p:sp>
        <p:nvSpPr>
          <p:cNvPr id="5" name="Diagonal Stripe 4">
            <a:extLst>
              <a:ext uri="{FF2B5EF4-FFF2-40B4-BE49-F238E27FC236}">
                <a16:creationId xmlns:a16="http://schemas.microsoft.com/office/drawing/2014/main" id="{A53FD7A6-5FC6-83DF-D70F-FC9E472BB99B}"/>
              </a:ext>
            </a:extLst>
          </p:cNvPr>
          <p:cNvSpPr/>
          <p:nvPr userDrawn="1"/>
        </p:nvSpPr>
        <p:spPr>
          <a:xfrm>
            <a:off x="0" y="0"/>
            <a:ext cx="3204594" cy="1895912"/>
          </a:xfrm>
          <a:prstGeom prst="diagStrip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solidFill>
                <a:schemeClr val="tx1"/>
              </a:solidFill>
            </a:endParaRPr>
          </a:p>
        </p:txBody>
      </p:sp>
      <p:sp>
        <p:nvSpPr>
          <p:cNvPr id="6" name="TextBox 5">
            <a:extLst>
              <a:ext uri="{FF2B5EF4-FFF2-40B4-BE49-F238E27FC236}">
                <a16:creationId xmlns:a16="http://schemas.microsoft.com/office/drawing/2014/main" id="{C4BDCD67-C7C7-233A-7522-87268100A2C5}"/>
              </a:ext>
            </a:extLst>
          </p:cNvPr>
          <p:cNvSpPr txBox="1"/>
          <p:nvPr userDrawn="1"/>
        </p:nvSpPr>
        <p:spPr>
          <a:xfrm>
            <a:off x="5961777" y="3007873"/>
            <a:ext cx="5201173" cy="3785652"/>
          </a:xfrm>
          <a:prstGeom prst="rect">
            <a:avLst/>
          </a:prstGeom>
          <a:noFill/>
        </p:spPr>
        <p:txBody>
          <a:bodyPr wrap="square" rtlCol="0">
            <a:spAutoFit/>
          </a:bodyPr>
          <a:lstStyle/>
          <a:p>
            <a:pPr marL="0" indent="0">
              <a:buFont typeface="Arial" panose="020B0604020202020204" pitchFamily="34" charset="0"/>
              <a:buNone/>
            </a:pPr>
            <a:r>
              <a:rPr lang="en-US" sz="4800" dirty="0"/>
              <a:t>Team RANK5TERS</a:t>
            </a:r>
          </a:p>
          <a:p>
            <a:pPr marL="285750" indent="-285750">
              <a:buFont typeface="Arial" panose="020B0604020202020204" pitchFamily="34" charset="0"/>
              <a:buChar char="•"/>
            </a:pPr>
            <a:r>
              <a:rPr lang="en-US" sz="3200" dirty="0"/>
              <a:t>Chandan kumar</a:t>
            </a:r>
          </a:p>
          <a:p>
            <a:pPr marL="285750" indent="-285750">
              <a:buFont typeface="Arial" panose="020B0604020202020204" pitchFamily="34" charset="0"/>
              <a:buChar char="•"/>
            </a:pPr>
            <a:r>
              <a:rPr lang="en-US" sz="3200" dirty="0"/>
              <a:t>Prabir </a:t>
            </a:r>
            <a:r>
              <a:rPr lang="en-US" sz="3200" dirty="0" err="1"/>
              <a:t>saha</a:t>
            </a:r>
            <a:endParaRPr lang="en-US" sz="3200" dirty="0"/>
          </a:p>
          <a:p>
            <a:pPr marL="285750" indent="-285750">
              <a:buFont typeface="Arial" panose="020B0604020202020204" pitchFamily="34" charset="0"/>
              <a:buChar char="•"/>
            </a:pPr>
            <a:r>
              <a:rPr lang="en-US" sz="3200" dirty="0"/>
              <a:t>Taniya Tiwari</a:t>
            </a:r>
          </a:p>
          <a:p>
            <a:pPr marL="285750" indent="-285750">
              <a:buFont typeface="Arial" panose="020B0604020202020204" pitchFamily="34" charset="0"/>
              <a:buChar char="•"/>
            </a:pPr>
            <a:r>
              <a:rPr lang="en-US" sz="3200" dirty="0"/>
              <a:t>Nandini </a:t>
            </a:r>
            <a:r>
              <a:rPr lang="en-US" sz="3200" dirty="0" err="1"/>
              <a:t>jain</a:t>
            </a:r>
            <a:endParaRPr lang="en-US" sz="3200" dirty="0"/>
          </a:p>
          <a:p>
            <a:pPr marL="285750" indent="-285750">
              <a:buFont typeface="Arial" panose="020B0604020202020204" pitchFamily="34" charset="0"/>
              <a:buChar char="•"/>
            </a:pPr>
            <a:r>
              <a:rPr lang="en-US" sz="3200" dirty="0"/>
              <a:t>Jyoti </a:t>
            </a:r>
            <a:r>
              <a:rPr lang="en-US" sz="3200" dirty="0" err="1"/>
              <a:t>yadav</a:t>
            </a:r>
            <a:endParaRPr lang="en-US" sz="3200" dirty="0"/>
          </a:p>
          <a:p>
            <a:pPr marL="285750" indent="-285750">
              <a:buFont typeface="Arial" panose="020B0604020202020204" pitchFamily="34" charset="0"/>
              <a:buChar char="•"/>
            </a:pPr>
            <a:endParaRPr lang="en-IN" sz="3200" dirty="0"/>
          </a:p>
        </p:txBody>
      </p:sp>
      <p:sp>
        <p:nvSpPr>
          <p:cNvPr id="8" name="TextBox 7">
            <a:extLst>
              <a:ext uri="{FF2B5EF4-FFF2-40B4-BE49-F238E27FC236}">
                <a16:creationId xmlns:a16="http://schemas.microsoft.com/office/drawing/2014/main" id="{64ACCFE0-512E-F21E-07A8-2335A7ED035C}"/>
              </a:ext>
            </a:extLst>
          </p:cNvPr>
          <p:cNvSpPr txBox="1"/>
          <p:nvPr userDrawn="1"/>
        </p:nvSpPr>
        <p:spPr>
          <a:xfrm>
            <a:off x="1048624" y="1136749"/>
            <a:ext cx="10883317" cy="646331"/>
          </a:xfrm>
          <a:prstGeom prst="rect">
            <a:avLst/>
          </a:prstGeom>
          <a:noFill/>
        </p:spPr>
        <p:txBody>
          <a:bodyPr wrap="square">
            <a:spAutoFit/>
          </a:bodyPr>
          <a:lstStyle/>
          <a:p>
            <a:pPr algn="ctr">
              <a:spcAft>
                <a:spcPts val="600"/>
              </a:spcAft>
              <a:buNone/>
            </a:pPr>
            <a:r>
              <a:rPr lang="en-US" sz="3600" kern="1400" spc="25" dirty="0">
                <a:solidFill>
                  <a:srgbClr val="17365D"/>
                </a:solidFill>
                <a:effectLst/>
                <a:latin typeface="Calibri" panose="020F0502020204030204" pitchFamily="34" charset="0"/>
                <a:ea typeface="MS Gothic" panose="020B0609070205080204" pitchFamily="49" charset="-128"/>
                <a:cs typeface="Mangal" panose="02040503050203030202" pitchFamily="18" charset="0"/>
              </a:rPr>
              <a:t>How Zomato Decides Which Restaurants to Show First?</a:t>
            </a:r>
            <a:endParaRPr lang="en-IN" sz="4400" kern="1400" spc="25" dirty="0">
              <a:solidFill>
                <a:srgbClr val="17365D"/>
              </a:solidFill>
              <a:effectLst/>
              <a:latin typeface="Calibri" panose="020F0502020204030204" pitchFamily="34" charset="0"/>
              <a:ea typeface="MS Gothic" panose="020B0609070205080204" pitchFamily="49" charset="-128"/>
              <a:cs typeface="Mangal" panose="02040503050203030202" pitchFamily="18" charset="0"/>
            </a:endParaRPr>
          </a:p>
        </p:txBody>
      </p:sp>
    </p:spTree>
    <p:extLst>
      <p:ext uri="{BB962C8B-B14F-4D97-AF65-F5344CB8AC3E}">
        <p14:creationId xmlns:p14="http://schemas.microsoft.com/office/powerpoint/2010/main" val="1197963378"/>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49299E4-244B-F21E-32B6-5A5AB9EF925E}"/>
              </a:ext>
            </a:extLst>
          </p:cNvPr>
          <p:cNvSpPr/>
          <p:nvPr userDrawn="1"/>
        </p:nvSpPr>
        <p:spPr>
          <a:xfrm>
            <a:off x="0" y="0"/>
            <a:ext cx="1208015" cy="6858000"/>
          </a:xfrm>
          <a:prstGeom prst="rect">
            <a:avLst/>
          </a:prstGeom>
          <a:ln w="19050">
            <a:solidFill>
              <a:srgbClr val="FF00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cxnSp>
        <p:nvCxnSpPr>
          <p:cNvPr id="7" name="Straight Connector 6">
            <a:extLst>
              <a:ext uri="{FF2B5EF4-FFF2-40B4-BE49-F238E27FC236}">
                <a16:creationId xmlns:a16="http://schemas.microsoft.com/office/drawing/2014/main" id="{88D67AD2-6473-C1DA-A1E5-C3CCF4077E6A}"/>
              </a:ext>
            </a:extLst>
          </p:cNvPr>
          <p:cNvCxnSpPr>
            <a:cxnSpLocks/>
          </p:cNvCxnSpPr>
          <p:nvPr userDrawn="1"/>
        </p:nvCxnSpPr>
        <p:spPr>
          <a:xfrm>
            <a:off x="1208015" y="981512"/>
            <a:ext cx="10983985" cy="0"/>
          </a:xfrm>
          <a:prstGeom prst="line">
            <a:avLst/>
          </a:prstGeom>
          <a:ln w="28575">
            <a:solidFill>
              <a:srgbClr val="FF0000"/>
            </a:solidFill>
          </a:ln>
        </p:spPr>
        <p:style>
          <a:lnRef idx="2">
            <a:schemeClr val="dk1"/>
          </a:lnRef>
          <a:fillRef idx="0">
            <a:schemeClr val="dk1"/>
          </a:fillRef>
          <a:effectRef idx="1">
            <a:schemeClr val="dk1"/>
          </a:effectRef>
          <a:fontRef idx="minor">
            <a:schemeClr val="tx1"/>
          </a:fontRef>
        </p:style>
      </p:cxnSp>
      <p:sp>
        <p:nvSpPr>
          <p:cNvPr id="10" name="Text Placeholder 9">
            <a:extLst>
              <a:ext uri="{FF2B5EF4-FFF2-40B4-BE49-F238E27FC236}">
                <a16:creationId xmlns:a16="http://schemas.microsoft.com/office/drawing/2014/main" id="{088E69F7-74AF-440E-AA2F-3CFB15FA069C}"/>
              </a:ext>
            </a:extLst>
          </p:cNvPr>
          <p:cNvSpPr>
            <a:spLocks noGrp="1"/>
          </p:cNvSpPr>
          <p:nvPr>
            <p:ph type="body" sz="quarter" idx="10"/>
          </p:nvPr>
        </p:nvSpPr>
        <p:spPr>
          <a:xfrm>
            <a:off x="1302756" y="212362"/>
            <a:ext cx="10058400" cy="612775"/>
          </a:xfrm>
        </p:spPr>
        <p:txBody>
          <a:bodyPr>
            <a:normAutofit/>
          </a:bodyPr>
          <a:lstStyle>
            <a:lvl1pPr marL="0" indent="0">
              <a:buNone/>
              <a:defRPr sz="2800"/>
            </a:lvl1pPr>
          </a:lstStyle>
          <a:p>
            <a:pPr lvl="0"/>
            <a:endParaRPr lang="en-IN" dirty="0"/>
          </a:p>
        </p:txBody>
      </p:sp>
      <p:sp>
        <p:nvSpPr>
          <p:cNvPr id="13" name="Rectangle 12">
            <a:extLst>
              <a:ext uri="{FF2B5EF4-FFF2-40B4-BE49-F238E27FC236}">
                <a16:creationId xmlns:a16="http://schemas.microsoft.com/office/drawing/2014/main" id="{99972BD3-624F-DE54-EAE9-CF194051DA52}"/>
              </a:ext>
            </a:extLst>
          </p:cNvPr>
          <p:cNvSpPr/>
          <p:nvPr userDrawn="1"/>
        </p:nvSpPr>
        <p:spPr>
          <a:xfrm>
            <a:off x="2230016" y="1352940"/>
            <a:ext cx="7996335" cy="4245426"/>
          </a:xfrm>
          <a:prstGeom prst="rect">
            <a:avLst/>
          </a:prstGeom>
          <a:blipFill dpi="0" rotWithShape="1">
            <a:blip r:embed="rId2">
              <a:alphaModFix amt="6000"/>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AF01135B-C9D4-3E9B-34CC-9782912CFD9F}"/>
              </a:ext>
            </a:extLst>
          </p:cNvPr>
          <p:cNvSpPr/>
          <p:nvPr userDrawn="1"/>
        </p:nvSpPr>
        <p:spPr>
          <a:xfrm>
            <a:off x="104820" y="65314"/>
            <a:ext cx="998376" cy="1017035"/>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6A915E03-2C92-3193-D483-6F2235729831}"/>
              </a:ext>
            </a:extLst>
          </p:cNvPr>
          <p:cNvSpPr/>
          <p:nvPr userDrawn="1"/>
        </p:nvSpPr>
        <p:spPr>
          <a:xfrm>
            <a:off x="11576807" y="6291749"/>
            <a:ext cx="545285" cy="566252"/>
          </a:xfrm>
          <a:prstGeom prst="rect">
            <a:avLst/>
          </a:prstGeom>
          <a:blipFill dpi="0" rotWithShape="1">
            <a:blip>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Content Placeholder 16">
            <a:extLst>
              <a:ext uri="{FF2B5EF4-FFF2-40B4-BE49-F238E27FC236}">
                <a16:creationId xmlns:a16="http://schemas.microsoft.com/office/drawing/2014/main" id="{911786C7-B780-2866-7B39-806F693225AB}"/>
              </a:ext>
            </a:extLst>
          </p:cNvPr>
          <p:cNvSpPr>
            <a:spLocks noGrp="1"/>
          </p:cNvSpPr>
          <p:nvPr>
            <p:ph sz="quarter" idx="11"/>
          </p:nvPr>
        </p:nvSpPr>
        <p:spPr>
          <a:xfrm>
            <a:off x="1302757" y="1137888"/>
            <a:ext cx="10274050" cy="5095132"/>
          </a:xfrm>
        </p:spPr>
        <p:txBody>
          <a:bodyPr>
            <a:normAutofit/>
          </a:bodyPr>
          <a:lstStyle>
            <a:lvl1pPr marL="0" indent="0">
              <a:buNone/>
              <a:defRPr sz="1800"/>
            </a:lvl1pPr>
          </a:lstStyle>
          <a:p>
            <a:pPr lvl="0"/>
            <a:endParaRPr lang="en-IN" dirty="0"/>
          </a:p>
        </p:txBody>
      </p:sp>
      <p:sp>
        <p:nvSpPr>
          <p:cNvPr id="20" name="TextBox 19">
            <a:extLst>
              <a:ext uri="{FF2B5EF4-FFF2-40B4-BE49-F238E27FC236}">
                <a16:creationId xmlns:a16="http://schemas.microsoft.com/office/drawing/2014/main" id="{90B9BDA5-A763-7A66-52A3-A0E4494EB915}"/>
              </a:ext>
            </a:extLst>
          </p:cNvPr>
          <p:cNvSpPr txBox="1"/>
          <p:nvPr userDrawn="1"/>
        </p:nvSpPr>
        <p:spPr>
          <a:xfrm>
            <a:off x="4352154" y="6550223"/>
            <a:ext cx="5301842" cy="307777"/>
          </a:xfrm>
          <a:prstGeom prst="rect">
            <a:avLst/>
          </a:prstGeom>
          <a:noFill/>
          <a:ln>
            <a:noFill/>
          </a:ln>
        </p:spPr>
        <p:txBody>
          <a:bodyPr wrap="square" rtlCol="0">
            <a:spAutoFit/>
          </a:bodyPr>
          <a:lstStyle/>
          <a:p>
            <a:r>
              <a:rPr lang="en-US" sz="1400" dirty="0">
                <a:solidFill>
                  <a:schemeClr val="bg1">
                    <a:lumMod val="50000"/>
                  </a:schemeClr>
                </a:solidFill>
              </a:rPr>
              <a:t>Data science| Machine learning | Artificial Intelligence</a:t>
            </a:r>
            <a:endParaRPr lang="en-IN" sz="1400" dirty="0">
              <a:solidFill>
                <a:schemeClr val="bg1">
                  <a:lumMod val="50000"/>
                </a:schemeClr>
              </a:solidFill>
            </a:endParaRPr>
          </a:p>
        </p:txBody>
      </p:sp>
    </p:spTree>
    <p:extLst>
      <p:ext uri="{BB962C8B-B14F-4D97-AF65-F5344CB8AC3E}">
        <p14:creationId xmlns:p14="http://schemas.microsoft.com/office/powerpoint/2010/main" val="570403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A4C7C-D5FB-9238-1398-214C6DB42C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91DA226-30D7-B289-E8DB-0243611EF1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1695F70-B31A-9905-0368-D2ADDDF1EE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291354-E353-917A-07BD-B702D5F8E1F9}"/>
              </a:ext>
            </a:extLst>
          </p:cNvPr>
          <p:cNvSpPr>
            <a:spLocks noGrp="1"/>
          </p:cNvSpPr>
          <p:nvPr>
            <p:ph type="dt" sz="half" idx="10"/>
          </p:nvPr>
        </p:nvSpPr>
        <p:spPr/>
        <p:txBody>
          <a:bodyPr/>
          <a:lstStyle/>
          <a:p>
            <a:fld id="{A6D6EA1D-4484-4A3F-A4BF-6F1F42CF5C20}" type="datetimeFigureOut">
              <a:rPr lang="en-IN" smtClean="0"/>
              <a:t>30-08-2025</a:t>
            </a:fld>
            <a:endParaRPr lang="en-IN"/>
          </a:p>
        </p:txBody>
      </p:sp>
      <p:sp>
        <p:nvSpPr>
          <p:cNvPr id="6" name="Footer Placeholder 5">
            <a:extLst>
              <a:ext uri="{FF2B5EF4-FFF2-40B4-BE49-F238E27FC236}">
                <a16:creationId xmlns:a16="http://schemas.microsoft.com/office/drawing/2014/main" id="{A9D38B6D-EB1D-EE26-E91D-91BAFB0D0DE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3BA6DE7-979C-889C-EAB0-AB031D6F99EA}"/>
              </a:ext>
            </a:extLst>
          </p:cNvPr>
          <p:cNvSpPr>
            <a:spLocks noGrp="1"/>
          </p:cNvSpPr>
          <p:nvPr>
            <p:ph type="sldNum" sz="quarter" idx="12"/>
          </p:nvPr>
        </p:nvSpPr>
        <p:spPr/>
        <p:txBody>
          <a:bodyPr/>
          <a:lstStyle/>
          <a:p>
            <a:fld id="{06A7256D-7193-42BF-A9AF-35D0D7F18244}" type="slidenum">
              <a:rPr lang="en-IN" smtClean="0"/>
              <a:t>‹#›</a:t>
            </a:fld>
            <a:endParaRPr lang="en-IN"/>
          </a:p>
        </p:txBody>
      </p:sp>
    </p:spTree>
    <p:extLst>
      <p:ext uri="{BB962C8B-B14F-4D97-AF65-F5344CB8AC3E}">
        <p14:creationId xmlns:p14="http://schemas.microsoft.com/office/powerpoint/2010/main" val="3873284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0FD95-4976-3DD6-4772-B9C9CB09CB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44DB45B-A9E9-F600-E0BB-8BCD8829A7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18DD2F3-01FD-7803-3174-301B1F1076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7B5B11-CDF6-C5C8-DB11-7296B7A079EC}"/>
              </a:ext>
            </a:extLst>
          </p:cNvPr>
          <p:cNvSpPr>
            <a:spLocks noGrp="1"/>
          </p:cNvSpPr>
          <p:nvPr>
            <p:ph type="dt" sz="half" idx="10"/>
          </p:nvPr>
        </p:nvSpPr>
        <p:spPr/>
        <p:txBody>
          <a:bodyPr/>
          <a:lstStyle/>
          <a:p>
            <a:fld id="{A6D6EA1D-4484-4A3F-A4BF-6F1F42CF5C20}" type="datetimeFigureOut">
              <a:rPr lang="en-IN" smtClean="0"/>
              <a:t>30-08-2025</a:t>
            </a:fld>
            <a:endParaRPr lang="en-IN"/>
          </a:p>
        </p:txBody>
      </p:sp>
      <p:sp>
        <p:nvSpPr>
          <p:cNvPr id="6" name="Footer Placeholder 5">
            <a:extLst>
              <a:ext uri="{FF2B5EF4-FFF2-40B4-BE49-F238E27FC236}">
                <a16:creationId xmlns:a16="http://schemas.microsoft.com/office/drawing/2014/main" id="{1ECD60F5-2F90-4D28-C6C0-52A9C57428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1D2F894-DD36-28A6-DF37-D4F0A29FE240}"/>
              </a:ext>
            </a:extLst>
          </p:cNvPr>
          <p:cNvSpPr>
            <a:spLocks noGrp="1"/>
          </p:cNvSpPr>
          <p:nvPr>
            <p:ph type="sldNum" sz="quarter" idx="12"/>
          </p:nvPr>
        </p:nvSpPr>
        <p:spPr/>
        <p:txBody>
          <a:bodyPr/>
          <a:lstStyle/>
          <a:p>
            <a:fld id="{06A7256D-7193-42BF-A9AF-35D0D7F18244}" type="slidenum">
              <a:rPr lang="en-IN" smtClean="0"/>
              <a:t>‹#›</a:t>
            </a:fld>
            <a:endParaRPr lang="en-IN"/>
          </a:p>
        </p:txBody>
      </p:sp>
    </p:spTree>
    <p:extLst>
      <p:ext uri="{BB962C8B-B14F-4D97-AF65-F5344CB8AC3E}">
        <p14:creationId xmlns:p14="http://schemas.microsoft.com/office/powerpoint/2010/main" val="2119954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AF9E8-F32D-8C62-1EE1-B89EBD1070B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2961E5-3D6A-8C43-7A69-AEFE718E95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5FCB83-C3BD-7E32-4BFB-380C48514C6D}"/>
              </a:ext>
            </a:extLst>
          </p:cNvPr>
          <p:cNvSpPr>
            <a:spLocks noGrp="1"/>
          </p:cNvSpPr>
          <p:nvPr>
            <p:ph type="dt" sz="half" idx="10"/>
          </p:nvPr>
        </p:nvSpPr>
        <p:spPr/>
        <p:txBody>
          <a:bodyPr/>
          <a:lstStyle/>
          <a:p>
            <a:fld id="{A6D6EA1D-4484-4A3F-A4BF-6F1F42CF5C20}" type="datetimeFigureOut">
              <a:rPr lang="en-IN" smtClean="0"/>
              <a:t>30-08-2025</a:t>
            </a:fld>
            <a:endParaRPr lang="en-IN"/>
          </a:p>
        </p:txBody>
      </p:sp>
      <p:sp>
        <p:nvSpPr>
          <p:cNvPr id="5" name="Footer Placeholder 4">
            <a:extLst>
              <a:ext uri="{FF2B5EF4-FFF2-40B4-BE49-F238E27FC236}">
                <a16:creationId xmlns:a16="http://schemas.microsoft.com/office/drawing/2014/main" id="{BEBA698E-D0FB-018E-FB6C-0A2FC17DBE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5CF48B-F034-6A11-FDFB-CF54C9C51CFE}"/>
              </a:ext>
            </a:extLst>
          </p:cNvPr>
          <p:cNvSpPr>
            <a:spLocks noGrp="1"/>
          </p:cNvSpPr>
          <p:nvPr>
            <p:ph type="sldNum" sz="quarter" idx="12"/>
          </p:nvPr>
        </p:nvSpPr>
        <p:spPr/>
        <p:txBody>
          <a:bodyPr/>
          <a:lstStyle/>
          <a:p>
            <a:fld id="{06A7256D-7193-42BF-A9AF-35D0D7F18244}" type="slidenum">
              <a:rPr lang="en-IN" smtClean="0"/>
              <a:t>‹#›</a:t>
            </a:fld>
            <a:endParaRPr lang="en-IN"/>
          </a:p>
        </p:txBody>
      </p:sp>
    </p:spTree>
    <p:extLst>
      <p:ext uri="{BB962C8B-B14F-4D97-AF65-F5344CB8AC3E}">
        <p14:creationId xmlns:p14="http://schemas.microsoft.com/office/powerpoint/2010/main" val="29781438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509A0F-464C-9175-FA08-05A36A97228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9384FED-34FA-7AD8-7367-F998005462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5D792B-3AB9-B291-AAA5-980D5C30D057}"/>
              </a:ext>
            </a:extLst>
          </p:cNvPr>
          <p:cNvSpPr>
            <a:spLocks noGrp="1"/>
          </p:cNvSpPr>
          <p:nvPr>
            <p:ph type="dt" sz="half" idx="10"/>
          </p:nvPr>
        </p:nvSpPr>
        <p:spPr/>
        <p:txBody>
          <a:bodyPr/>
          <a:lstStyle/>
          <a:p>
            <a:fld id="{A6D6EA1D-4484-4A3F-A4BF-6F1F42CF5C20}" type="datetimeFigureOut">
              <a:rPr lang="en-IN" smtClean="0"/>
              <a:t>30-08-2025</a:t>
            </a:fld>
            <a:endParaRPr lang="en-IN"/>
          </a:p>
        </p:txBody>
      </p:sp>
      <p:sp>
        <p:nvSpPr>
          <p:cNvPr id="5" name="Footer Placeholder 4">
            <a:extLst>
              <a:ext uri="{FF2B5EF4-FFF2-40B4-BE49-F238E27FC236}">
                <a16:creationId xmlns:a16="http://schemas.microsoft.com/office/drawing/2014/main" id="{A9308506-B867-523F-7FC5-05FAF4F5A6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1BC316-EA84-AB48-E77F-73CB92CF2B12}"/>
              </a:ext>
            </a:extLst>
          </p:cNvPr>
          <p:cNvSpPr>
            <a:spLocks noGrp="1"/>
          </p:cNvSpPr>
          <p:nvPr>
            <p:ph type="sldNum" sz="quarter" idx="12"/>
          </p:nvPr>
        </p:nvSpPr>
        <p:spPr/>
        <p:txBody>
          <a:bodyPr/>
          <a:lstStyle/>
          <a:p>
            <a:fld id="{06A7256D-7193-42BF-A9AF-35D0D7F18244}" type="slidenum">
              <a:rPr lang="en-IN" smtClean="0"/>
              <a:t>‹#›</a:t>
            </a:fld>
            <a:endParaRPr lang="en-IN"/>
          </a:p>
        </p:txBody>
      </p:sp>
    </p:spTree>
    <p:extLst>
      <p:ext uri="{BB962C8B-B14F-4D97-AF65-F5344CB8AC3E}">
        <p14:creationId xmlns:p14="http://schemas.microsoft.com/office/powerpoint/2010/main" val="2126243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3275E6-FF8D-E12B-4373-939E6F48AF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59CE825-3EF7-CEC5-2797-A874C18734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7155D7D-F566-73E5-E81D-C13085DCB1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D6EA1D-4484-4A3F-A4BF-6F1F42CF5C20}" type="datetimeFigureOut">
              <a:rPr lang="en-IN" smtClean="0"/>
              <a:t>30-08-2025</a:t>
            </a:fld>
            <a:endParaRPr lang="en-IN"/>
          </a:p>
        </p:txBody>
      </p:sp>
      <p:sp>
        <p:nvSpPr>
          <p:cNvPr id="5" name="Footer Placeholder 4">
            <a:extLst>
              <a:ext uri="{FF2B5EF4-FFF2-40B4-BE49-F238E27FC236}">
                <a16:creationId xmlns:a16="http://schemas.microsoft.com/office/drawing/2014/main" id="{EDBA7AD5-2349-C567-E88B-9047C245A0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68DC3EC-5D36-E40F-E529-1A28C873CB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A7256D-7193-42BF-A9AF-35D0D7F18244}" type="slidenum">
              <a:rPr lang="en-IN" smtClean="0"/>
              <a:t>‹#›</a:t>
            </a:fld>
            <a:endParaRPr lang="en-IN"/>
          </a:p>
        </p:txBody>
      </p:sp>
    </p:spTree>
    <p:extLst>
      <p:ext uri="{BB962C8B-B14F-4D97-AF65-F5344CB8AC3E}">
        <p14:creationId xmlns:p14="http://schemas.microsoft.com/office/powerpoint/2010/main" val="32772570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8.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Upskilling Startup AlmaBetter Partners with Woolf to Deliver Accredited  Degrees to Thousands of Online Learners">
            <a:extLst>
              <a:ext uri="{FF2B5EF4-FFF2-40B4-BE49-F238E27FC236}">
                <a16:creationId xmlns:a16="http://schemas.microsoft.com/office/drawing/2014/main" id="{D467E41A-A379-AF95-B21F-7A89A8204986}"/>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3793186"/>
            <a:ext cx="5844988" cy="30648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2994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CCA2AB5-9E93-3787-D1D3-712B9B705196}"/>
              </a:ext>
            </a:extLst>
          </p:cNvPr>
          <p:cNvSpPr>
            <a:spLocks noGrp="1"/>
          </p:cNvSpPr>
          <p:nvPr>
            <p:ph type="body" sz="quarter" idx="10"/>
          </p:nvPr>
        </p:nvSpPr>
        <p:spPr/>
        <p:txBody>
          <a:bodyPr/>
          <a:lstStyle/>
          <a:p>
            <a:pPr algn="ctr"/>
            <a:r>
              <a:rPr lang="en-US" dirty="0"/>
              <a:t>Flow of work</a:t>
            </a:r>
            <a:endParaRPr lang="en-IN" dirty="0"/>
          </a:p>
        </p:txBody>
      </p:sp>
      <p:graphicFrame>
        <p:nvGraphicFramePr>
          <p:cNvPr id="4" name="Diagram 3">
            <a:extLst>
              <a:ext uri="{FF2B5EF4-FFF2-40B4-BE49-F238E27FC236}">
                <a16:creationId xmlns:a16="http://schemas.microsoft.com/office/drawing/2014/main" id="{B93BD353-FEED-DBDD-2CFB-E3455BEB175B}"/>
              </a:ext>
            </a:extLst>
          </p:cNvPr>
          <p:cNvGraphicFramePr/>
          <p:nvPr>
            <p:extLst>
              <p:ext uri="{D42A27DB-BD31-4B8C-83A1-F6EECF244321}">
                <p14:modId xmlns:p14="http://schemas.microsoft.com/office/powerpoint/2010/main" val="192405973"/>
              </p:ext>
            </p:extLst>
          </p:nvPr>
        </p:nvGraphicFramePr>
        <p:xfrm>
          <a:off x="3801036" y="1129553"/>
          <a:ext cx="5378823" cy="50740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1E7ABAB6-8A78-E25B-D12D-B8EEEC7F3951}"/>
              </a:ext>
            </a:extLst>
          </p:cNvPr>
          <p:cNvSpPr txBox="1"/>
          <p:nvPr/>
        </p:nvSpPr>
        <p:spPr>
          <a:xfrm rot="16200000">
            <a:off x="-1317168" y="2954327"/>
            <a:ext cx="3696268" cy="646331"/>
          </a:xfrm>
          <a:prstGeom prst="rect">
            <a:avLst/>
          </a:prstGeom>
          <a:noFill/>
        </p:spPr>
        <p:txBody>
          <a:bodyPr wrap="none" rtlCol="0">
            <a:spAutoFit/>
          </a:bodyPr>
          <a:lstStyle/>
          <a:p>
            <a:r>
              <a:rPr lang="en-US" sz="3600" dirty="0">
                <a:solidFill>
                  <a:schemeClr val="bg1"/>
                </a:solidFill>
              </a:rPr>
              <a:t>Team RANK5STERS</a:t>
            </a:r>
            <a:endParaRPr lang="en-IN" sz="3600" dirty="0">
              <a:solidFill>
                <a:schemeClr val="bg1"/>
              </a:solidFill>
            </a:endParaRPr>
          </a:p>
        </p:txBody>
      </p:sp>
    </p:spTree>
    <p:extLst>
      <p:ext uri="{BB962C8B-B14F-4D97-AF65-F5344CB8AC3E}">
        <p14:creationId xmlns:p14="http://schemas.microsoft.com/office/powerpoint/2010/main" val="27905850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5FE4308-A7EE-94A4-637C-2AA027AB2562}"/>
              </a:ext>
            </a:extLst>
          </p:cNvPr>
          <p:cNvSpPr>
            <a:spLocks noGrp="1"/>
          </p:cNvSpPr>
          <p:nvPr>
            <p:ph type="body" sz="quarter" idx="10"/>
          </p:nvPr>
        </p:nvSpPr>
        <p:spPr/>
        <p:txBody>
          <a:bodyPr/>
          <a:lstStyle/>
          <a:p>
            <a:r>
              <a:rPr lang="en-US" dirty="0"/>
              <a:t>Introduction</a:t>
            </a:r>
            <a:endParaRPr lang="en-IN" dirty="0"/>
          </a:p>
        </p:txBody>
      </p:sp>
      <p:sp>
        <p:nvSpPr>
          <p:cNvPr id="5" name="Rectangle 2">
            <a:extLst>
              <a:ext uri="{FF2B5EF4-FFF2-40B4-BE49-F238E27FC236}">
                <a16:creationId xmlns:a16="http://schemas.microsoft.com/office/drawing/2014/main" id="{E646423E-690A-0E76-4A73-71C2416C3586}"/>
              </a:ext>
            </a:extLst>
          </p:cNvPr>
          <p:cNvSpPr>
            <a:spLocks noGrp="1" noChangeArrowheads="1"/>
          </p:cNvSpPr>
          <p:nvPr>
            <p:ph sz="quarter" idx="11"/>
          </p:nvPr>
        </p:nvSpPr>
        <p:spPr bwMode="auto">
          <a:xfrm>
            <a:off x="1302756" y="1142857"/>
            <a:ext cx="100584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Online food delivery platforms like </a:t>
            </a: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Zomato rely on ranking algorithms</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that directly influence customer choices and restaurant visibility.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The study focuses on </a:t>
            </a: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empirical analysis of Zomato’s live ranking behavior</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under different filters.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Data was collected over </a:t>
            </a: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three days at three-hour intervals (10 AM – 10 PM)</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to capture ranking dynamics.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Filters applied include </a:t>
            </a: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relevance + delivery time (under 30 mins)</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ratings (3.5+ &amp; 4.0+)</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promotions (BOGO &amp; deals)</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price ranges (under ₹250, ₹250–350, above ₹350)</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Data was organized using </a:t>
            </a: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Excel</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and visualized with </a:t>
            </a: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Power BI</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to identify trends and patterns.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Preliminary findings suggest that </a:t>
            </a: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relevance sorting favors high-rated restaurants with active promotions</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Ranking is further influenced by </a:t>
            </a: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pricing and delivery filters</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which may introduce </a:t>
            </a: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biases</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in visibility.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The study aims to provide </a:t>
            </a: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insights into algorithmic transparency</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and highlight implications for </a:t>
            </a: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restaurants, consumers, and platform optimization</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p:txBody>
      </p:sp>
      <p:pic>
        <p:nvPicPr>
          <p:cNvPr id="7" name="Picture 6">
            <a:extLst>
              <a:ext uri="{FF2B5EF4-FFF2-40B4-BE49-F238E27FC236}">
                <a16:creationId xmlns:a16="http://schemas.microsoft.com/office/drawing/2014/main" id="{5082EF38-F29A-779D-41E3-C82C28340C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1226" y="4876801"/>
            <a:ext cx="2143500" cy="1429000"/>
          </a:xfrm>
          <a:prstGeom prst="rect">
            <a:avLst/>
          </a:prstGeom>
        </p:spPr>
      </p:pic>
    </p:spTree>
    <p:extLst>
      <p:ext uri="{BB962C8B-B14F-4D97-AF65-F5344CB8AC3E}">
        <p14:creationId xmlns:p14="http://schemas.microsoft.com/office/powerpoint/2010/main" val="4013067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B51D5-0F06-495F-0A47-6A3FE756788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056A52B-B4B1-B5A0-F9EE-EDB0B26A0A42}"/>
              </a:ext>
            </a:extLst>
          </p:cNvPr>
          <p:cNvSpPr>
            <a:spLocks noGrp="1"/>
          </p:cNvSpPr>
          <p:nvPr>
            <p:ph type="body" sz="quarter" idx="10"/>
          </p:nvPr>
        </p:nvSpPr>
        <p:spPr/>
        <p:txBody>
          <a:bodyPr/>
          <a:lstStyle/>
          <a:p>
            <a:r>
              <a:rPr lang="en-US" dirty="0"/>
              <a:t>Literature</a:t>
            </a:r>
            <a:endParaRPr lang="en-IN" dirty="0"/>
          </a:p>
        </p:txBody>
      </p:sp>
      <p:sp>
        <p:nvSpPr>
          <p:cNvPr id="4" name="Rectangle 1">
            <a:extLst>
              <a:ext uri="{FF2B5EF4-FFF2-40B4-BE49-F238E27FC236}">
                <a16:creationId xmlns:a16="http://schemas.microsoft.com/office/drawing/2014/main" id="{24FCA762-E872-B1EE-0FBE-8236466401DD}"/>
              </a:ext>
            </a:extLst>
          </p:cNvPr>
          <p:cNvSpPr>
            <a:spLocks noGrp="1" noChangeArrowheads="1"/>
          </p:cNvSpPr>
          <p:nvPr>
            <p:ph sz="quarter" idx="11"/>
          </p:nvPr>
        </p:nvSpPr>
        <p:spPr bwMode="auto">
          <a:xfrm>
            <a:off x="1302756" y="1152459"/>
            <a:ext cx="10736845"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Restaurant ranking strongly affects visibility and sales</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often reinforcing a </a:t>
            </a:r>
            <a:r>
              <a:rPr kumimoji="0" lang="en-US" altLang="en-US" sz="1400" b="0" i="1"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“rich-get-richer”</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cycle where popular restaurants maintain dominance [1].</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Recommender system studies</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in e-commerce stress the need to balance </a:t>
            </a: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personalization with fairness</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ensuring both new and established sellers gain exposure [2].</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 food delivery platforms, </a:t>
            </a: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delivery time, discounts, and customer ratings</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emerge as key factors driving restaurant placement [3].</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Research highlights that </a:t>
            </a: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ranking systems must adapt in real time</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to reflect changing consumer demand patterns [4].</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Promotional strategies</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such as </a:t>
            </a:r>
            <a:r>
              <a:rPr kumimoji="0" lang="en-US" altLang="en-US" sz="1400" b="0" i="1"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“Buy 1 Get 1 Free”</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kumimoji="0" lang="en-US" altLang="en-US" sz="1400" b="0" i="1"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“Deals of the Day”</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significantly improve restaurant visibility and user engagement [5].</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Pricing tiers</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(low, medium, high) influence ranking outcomes, shaping consumer preferences and restaurant competitiveness [6].</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Overall, prior studies show that </a:t>
            </a: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ranking is shaped by both algorithmic logic and market forces</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blending consumer behavior, economic incentives, and contextual filters.</a:t>
            </a:r>
          </a:p>
        </p:txBody>
      </p:sp>
    </p:spTree>
    <p:extLst>
      <p:ext uri="{BB962C8B-B14F-4D97-AF65-F5344CB8AC3E}">
        <p14:creationId xmlns:p14="http://schemas.microsoft.com/office/powerpoint/2010/main" val="2514662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507CF-6586-F5F3-4C66-359D100F26A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5BAC449-8FB1-2134-7541-0BED56CB262A}"/>
              </a:ext>
            </a:extLst>
          </p:cNvPr>
          <p:cNvSpPr>
            <a:spLocks noGrp="1"/>
          </p:cNvSpPr>
          <p:nvPr>
            <p:ph type="body" sz="quarter" idx="10"/>
          </p:nvPr>
        </p:nvSpPr>
        <p:spPr/>
        <p:txBody>
          <a:bodyPr/>
          <a:lstStyle/>
          <a:p>
            <a:r>
              <a:rPr lang="en-US" dirty="0"/>
              <a:t>Tools/Methods</a:t>
            </a:r>
            <a:endParaRPr lang="en-IN" dirty="0"/>
          </a:p>
        </p:txBody>
      </p:sp>
      <p:sp>
        <p:nvSpPr>
          <p:cNvPr id="7" name="Rectangle 3">
            <a:extLst>
              <a:ext uri="{FF2B5EF4-FFF2-40B4-BE49-F238E27FC236}">
                <a16:creationId xmlns:a16="http://schemas.microsoft.com/office/drawing/2014/main" id="{94442CB1-9BFB-D83F-5912-10D021F03D92}"/>
              </a:ext>
            </a:extLst>
          </p:cNvPr>
          <p:cNvSpPr>
            <a:spLocks noChangeArrowheads="1"/>
          </p:cNvSpPr>
          <p:nvPr/>
        </p:nvSpPr>
        <p:spPr bwMode="auto">
          <a:xfrm>
            <a:off x="1332524" y="1320248"/>
            <a:ext cx="10584444"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Zomato Android app</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was used to collect real-time restaurant ranking data under different filters.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MS Excel</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helped in basic data cleaning and structuring before deeper analysis.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NumPy and Pandas</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were applied for efficient data handling, preprocessing, and exploratory analysis.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Matplotlib and Seaborn</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were used to create visualizations of delivery times, offers, ratings, and distance impacts on rankings.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Data was collected over </a:t>
            </a: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three days at three-hour intervals</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(10 AM–10 PM) using eight filters, including ratings, promotions, price ranges, and delivery time constraints.</a:t>
            </a:r>
          </a:p>
        </p:txBody>
      </p:sp>
    </p:spTree>
    <p:extLst>
      <p:ext uri="{BB962C8B-B14F-4D97-AF65-F5344CB8AC3E}">
        <p14:creationId xmlns:p14="http://schemas.microsoft.com/office/powerpoint/2010/main" val="1659434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712C5-2CFE-03E9-9382-A44AB5BEC15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B2EB475-752D-6003-8C81-27ED69D2DF11}"/>
              </a:ext>
            </a:extLst>
          </p:cNvPr>
          <p:cNvSpPr>
            <a:spLocks noGrp="1"/>
          </p:cNvSpPr>
          <p:nvPr>
            <p:ph type="body" sz="quarter" idx="10"/>
          </p:nvPr>
        </p:nvSpPr>
        <p:spPr/>
        <p:txBody>
          <a:bodyPr/>
          <a:lstStyle/>
          <a:p>
            <a:r>
              <a:rPr lang="en-US" dirty="0"/>
              <a:t>Results and discussions</a:t>
            </a:r>
            <a:endParaRPr lang="en-IN" dirty="0"/>
          </a:p>
        </p:txBody>
      </p:sp>
      <p:grpSp>
        <p:nvGrpSpPr>
          <p:cNvPr id="4" name="Group 3">
            <a:extLst>
              <a:ext uri="{FF2B5EF4-FFF2-40B4-BE49-F238E27FC236}">
                <a16:creationId xmlns:a16="http://schemas.microsoft.com/office/drawing/2014/main" id="{85D5FE77-23D5-DB0B-9E0C-BE5C6965DD8C}"/>
              </a:ext>
            </a:extLst>
          </p:cNvPr>
          <p:cNvGrpSpPr/>
          <p:nvPr/>
        </p:nvGrpSpPr>
        <p:grpSpPr>
          <a:xfrm>
            <a:off x="4948559" y="1065850"/>
            <a:ext cx="1943100" cy="1360805"/>
            <a:chOff x="0" y="0"/>
            <a:chExt cx="1943100" cy="1360805"/>
          </a:xfrm>
        </p:grpSpPr>
        <p:pic>
          <p:nvPicPr>
            <p:cNvPr id="5" name="Picture 4">
              <a:extLst>
                <a:ext uri="{FF2B5EF4-FFF2-40B4-BE49-F238E27FC236}">
                  <a16:creationId xmlns:a16="http://schemas.microsoft.com/office/drawing/2014/main" id="{8EAD87C1-3C5D-BA76-4BDB-CEAEF89EE3B5}"/>
                </a:ext>
              </a:extLst>
            </p:cNvPr>
            <p:cNvPicPr>
              <a:picLocks noChangeAspect="1"/>
            </p:cNvPicPr>
            <p:nvPr/>
          </p:nvPicPr>
          <p:blipFill rotWithShape="1">
            <a:blip r:embed="rId2">
              <a:extLst>
                <a:ext uri="{28A0092B-C50C-407E-A947-70E740481C1C}">
                  <a14:useLocalDpi xmlns:a14="http://schemas.microsoft.com/office/drawing/2010/main" val="0"/>
                </a:ext>
              </a:extLst>
            </a:blip>
            <a:srcRect l="1801" b="2170"/>
            <a:stretch>
              <a:fillRect/>
            </a:stretch>
          </p:blipFill>
          <p:spPr bwMode="auto">
            <a:xfrm>
              <a:off x="0" y="0"/>
              <a:ext cx="1943100" cy="1360805"/>
            </a:xfrm>
            <a:prstGeom prst="rect">
              <a:avLst/>
            </a:prstGeom>
            <a:noFill/>
            <a:ln>
              <a:solidFill>
                <a:schemeClr val="tx1"/>
              </a:solidFill>
            </a:ln>
            <a:extLst>
              <a:ext uri="{53640926-AAD7-44D8-BBD7-CCE9431645EC}">
                <a14:shadowObscured xmlns:a14="http://schemas.microsoft.com/office/drawing/2010/main"/>
              </a:ext>
            </a:extLst>
          </p:spPr>
        </p:pic>
        <p:sp>
          <p:nvSpPr>
            <p:cNvPr id="6" name="Text Box 2">
              <a:extLst>
                <a:ext uri="{FF2B5EF4-FFF2-40B4-BE49-F238E27FC236}">
                  <a16:creationId xmlns:a16="http://schemas.microsoft.com/office/drawing/2014/main" id="{6E421D85-AE2A-5FCA-ECD6-0E28491FF291}"/>
                </a:ext>
              </a:extLst>
            </p:cNvPr>
            <p:cNvSpPr txBox="1">
              <a:spLocks noChangeArrowheads="1"/>
            </p:cNvSpPr>
            <p:nvPr/>
          </p:nvSpPr>
          <p:spPr bwMode="auto">
            <a:xfrm>
              <a:off x="1119637" y="127599"/>
              <a:ext cx="819510" cy="303721"/>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15000"/>
                </a:lnSpc>
                <a:spcAft>
                  <a:spcPts val="1000"/>
                </a:spcAft>
                <a:buNone/>
              </a:pPr>
              <a:r>
                <a:rPr lang="en-US" sz="1100">
                  <a:effectLst/>
                  <a:latin typeface="Cambria" panose="02040503050406030204" pitchFamily="18" charset="0"/>
                  <a:ea typeface="MS Mincho" panose="02020609040205080304" pitchFamily="49" charset="-128"/>
                  <a:cs typeface="Mangal" panose="02040503050203030202" pitchFamily="18" charset="0"/>
                </a:rPr>
                <a:t>Graph 1</a:t>
              </a:r>
              <a:endParaRPr lang="en-IN" sz="1100">
                <a:effectLst/>
                <a:latin typeface="Cambria" panose="02040503050406030204" pitchFamily="18" charset="0"/>
                <a:ea typeface="MS Mincho" panose="02020609040205080304" pitchFamily="49" charset="-128"/>
                <a:cs typeface="Mangal" panose="02040503050203030202" pitchFamily="18" charset="0"/>
              </a:endParaRPr>
            </a:p>
          </p:txBody>
        </p:sp>
      </p:grpSp>
      <p:sp>
        <p:nvSpPr>
          <p:cNvPr id="8" name="TextBox 7">
            <a:extLst>
              <a:ext uri="{FF2B5EF4-FFF2-40B4-BE49-F238E27FC236}">
                <a16:creationId xmlns:a16="http://schemas.microsoft.com/office/drawing/2014/main" id="{3A3A2F78-7DF4-497E-5ADF-48C90C80D0D0}"/>
              </a:ext>
            </a:extLst>
          </p:cNvPr>
          <p:cNvSpPr txBox="1"/>
          <p:nvPr/>
        </p:nvSpPr>
        <p:spPr>
          <a:xfrm>
            <a:off x="1281691" y="968790"/>
            <a:ext cx="3619035" cy="1578894"/>
          </a:xfrm>
          <a:prstGeom prst="rect">
            <a:avLst/>
          </a:prstGeom>
          <a:noFill/>
        </p:spPr>
        <p:txBody>
          <a:bodyPr wrap="square">
            <a:spAutoFit/>
          </a:bodyPr>
          <a:lstStyle/>
          <a:p>
            <a:pPr algn="just">
              <a:lnSpc>
                <a:spcPct val="115000"/>
              </a:lnSpc>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The graph 1 shows that most deliveries (263) are completed within 40 minutes, while only a few (32) take more than an hour.</a:t>
            </a:r>
            <a:endParaRPr lang="en-IN"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gn="just">
              <a:lnSpc>
                <a:spcPct val="115000"/>
              </a:lnSpc>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Impact on ranking: Restaurants with faster delivery times are ranked higher on Zomato, as speed directly improves customer satisfaction and order likelihood. 🚀 </a:t>
            </a:r>
            <a:endParaRPr lang="en-IN"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2" name="Rectangle 4">
            <a:extLst>
              <a:ext uri="{FF2B5EF4-FFF2-40B4-BE49-F238E27FC236}">
                <a16:creationId xmlns:a16="http://schemas.microsoft.com/office/drawing/2014/main" id="{7319207D-C60A-EADC-070A-0C7920D7491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13" name="Group 12">
            <a:extLst>
              <a:ext uri="{FF2B5EF4-FFF2-40B4-BE49-F238E27FC236}">
                <a16:creationId xmlns:a16="http://schemas.microsoft.com/office/drawing/2014/main" id="{F556BBDF-7BDD-4C50-6C5A-72625C7822E1}"/>
              </a:ext>
            </a:extLst>
          </p:cNvPr>
          <p:cNvGrpSpPr/>
          <p:nvPr/>
        </p:nvGrpSpPr>
        <p:grpSpPr>
          <a:xfrm>
            <a:off x="10159886" y="1179775"/>
            <a:ext cx="1943100" cy="1360805"/>
            <a:chOff x="0" y="0"/>
            <a:chExt cx="1943100" cy="1360805"/>
          </a:xfrm>
        </p:grpSpPr>
        <p:pic>
          <p:nvPicPr>
            <p:cNvPr id="14" name="Picture 13">
              <a:extLst>
                <a:ext uri="{FF2B5EF4-FFF2-40B4-BE49-F238E27FC236}">
                  <a16:creationId xmlns:a16="http://schemas.microsoft.com/office/drawing/2014/main" id="{4A0130A6-5B1D-9B69-E194-DF48C7C79A7B}"/>
                </a:ext>
              </a:extLst>
            </p:cNvPr>
            <p:cNvPicPr>
              <a:picLocks noChangeAspect="1"/>
            </p:cNvPicPr>
            <p:nvPr/>
          </p:nvPicPr>
          <p:blipFill>
            <a:blip r:embed="rId3"/>
            <a:srcRect l="9149" r="9149"/>
            <a:stretch/>
          </p:blipFill>
          <p:spPr bwMode="auto">
            <a:xfrm>
              <a:off x="0" y="0"/>
              <a:ext cx="1943100" cy="1360805"/>
            </a:xfrm>
            <a:prstGeom prst="rect">
              <a:avLst/>
            </a:prstGeom>
            <a:noFill/>
            <a:ln>
              <a:solidFill>
                <a:schemeClr val="tx1"/>
              </a:solidFill>
            </a:ln>
            <a:extLst>
              <a:ext uri="{53640926-AAD7-44D8-BBD7-CCE9431645EC}">
                <a14:shadowObscured xmlns:a14="http://schemas.microsoft.com/office/drawing/2010/main"/>
              </a:ext>
            </a:extLst>
          </p:spPr>
        </p:pic>
        <p:sp>
          <p:nvSpPr>
            <p:cNvPr id="15" name="Text Box 2">
              <a:extLst>
                <a:ext uri="{FF2B5EF4-FFF2-40B4-BE49-F238E27FC236}">
                  <a16:creationId xmlns:a16="http://schemas.microsoft.com/office/drawing/2014/main" id="{A97582D3-BC5D-4213-BD89-91B0933E0AB0}"/>
                </a:ext>
              </a:extLst>
            </p:cNvPr>
            <p:cNvSpPr txBox="1">
              <a:spLocks noChangeArrowheads="1"/>
            </p:cNvSpPr>
            <p:nvPr/>
          </p:nvSpPr>
          <p:spPr bwMode="auto">
            <a:xfrm>
              <a:off x="1119637" y="127599"/>
              <a:ext cx="819510" cy="303721"/>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15000"/>
                </a:lnSpc>
                <a:spcAft>
                  <a:spcPts val="1000"/>
                </a:spcAft>
                <a:buNone/>
              </a:pPr>
              <a:r>
                <a:rPr lang="en-US" sz="1100">
                  <a:effectLst/>
                  <a:latin typeface="Cambria" panose="02040503050406030204" pitchFamily="18" charset="0"/>
                  <a:ea typeface="MS Mincho" panose="02020609040205080304" pitchFamily="49" charset="-128"/>
                  <a:cs typeface="Mangal" panose="02040503050203030202" pitchFamily="18" charset="0"/>
                </a:rPr>
                <a:t>Graph 2</a:t>
              </a:r>
              <a:endParaRPr lang="en-IN" sz="1100">
                <a:effectLst/>
                <a:latin typeface="Cambria" panose="02040503050406030204" pitchFamily="18" charset="0"/>
                <a:ea typeface="MS Mincho" panose="02020609040205080304" pitchFamily="49" charset="-128"/>
                <a:cs typeface="Mangal" panose="02040503050203030202" pitchFamily="18" charset="0"/>
              </a:endParaRPr>
            </a:p>
          </p:txBody>
        </p:sp>
      </p:grpSp>
      <p:sp>
        <p:nvSpPr>
          <p:cNvPr id="16" name="Rectangle 6">
            <a:extLst>
              <a:ext uri="{FF2B5EF4-FFF2-40B4-BE49-F238E27FC236}">
                <a16:creationId xmlns:a16="http://schemas.microsoft.com/office/drawing/2014/main" id="{2502ECE1-7C1F-67D0-E055-D308C4A5935F}"/>
              </a:ext>
            </a:extLst>
          </p:cNvPr>
          <p:cNvSpPr>
            <a:spLocks noChangeArrowheads="1"/>
          </p:cNvSpPr>
          <p:nvPr/>
        </p:nvSpPr>
        <p:spPr bwMode="auto">
          <a:xfrm>
            <a:off x="1302756" y="2483513"/>
            <a:ext cx="3970818"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The graph 2 shows the top 10 most common offers on Zomato. The most frequent is 10% off, followed by flat ₹125 off above ₹299 and flat 50% off. Offers like Buy 1 Get 1 Free and discounts on specific amounts are also popular, while niche offers (like free jelly) are rare.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Impact on restaurant ranking: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Restaurants with attractive and frequent offers (like 10%–50% off or BOGO deals) are pushed higher in listings because they attract more clicks, higher conversions, and repeat orders. Simply put: better offers = better visibility &amp; higher ranking.</a:t>
            </a:r>
          </a:p>
        </p:txBody>
      </p:sp>
      <p:grpSp>
        <p:nvGrpSpPr>
          <p:cNvPr id="17" name="Group 16">
            <a:extLst>
              <a:ext uri="{FF2B5EF4-FFF2-40B4-BE49-F238E27FC236}">
                <a16:creationId xmlns:a16="http://schemas.microsoft.com/office/drawing/2014/main" id="{D91457BD-3ECB-E397-1464-B3B08838DAE9}"/>
              </a:ext>
            </a:extLst>
          </p:cNvPr>
          <p:cNvGrpSpPr/>
          <p:nvPr/>
        </p:nvGrpSpPr>
        <p:grpSpPr>
          <a:xfrm>
            <a:off x="5022756" y="5161761"/>
            <a:ext cx="1943100" cy="1360805"/>
            <a:chOff x="0" y="0"/>
            <a:chExt cx="1943100" cy="1360805"/>
          </a:xfrm>
        </p:grpSpPr>
        <p:pic>
          <p:nvPicPr>
            <p:cNvPr id="18" name="Picture 17">
              <a:extLst>
                <a:ext uri="{FF2B5EF4-FFF2-40B4-BE49-F238E27FC236}">
                  <a16:creationId xmlns:a16="http://schemas.microsoft.com/office/drawing/2014/main" id="{2A3A79F7-D51C-3016-A36C-79915524AC09}"/>
                </a:ext>
              </a:extLst>
            </p:cNvPr>
            <p:cNvPicPr>
              <a:picLocks noChangeAspect="1"/>
            </p:cNvPicPr>
            <p:nvPr/>
          </p:nvPicPr>
          <p:blipFill>
            <a:blip r:embed="rId4"/>
            <a:srcRect l="8068" r="8068"/>
            <a:stretch/>
          </p:blipFill>
          <p:spPr bwMode="auto">
            <a:xfrm>
              <a:off x="0" y="0"/>
              <a:ext cx="1943100" cy="1360805"/>
            </a:xfrm>
            <a:prstGeom prst="rect">
              <a:avLst/>
            </a:prstGeom>
            <a:noFill/>
            <a:ln>
              <a:solidFill>
                <a:schemeClr val="tx1"/>
              </a:solidFill>
            </a:ln>
            <a:extLst>
              <a:ext uri="{53640926-AAD7-44D8-BBD7-CCE9431645EC}">
                <a14:shadowObscured xmlns:a14="http://schemas.microsoft.com/office/drawing/2010/main"/>
              </a:ext>
            </a:extLst>
          </p:spPr>
        </p:pic>
        <p:sp>
          <p:nvSpPr>
            <p:cNvPr id="19" name="Text Box 2">
              <a:extLst>
                <a:ext uri="{FF2B5EF4-FFF2-40B4-BE49-F238E27FC236}">
                  <a16:creationId xmlns:a16="http://schemas.microsoft.com/office/drawing/2014/main" id="{136B04F9-E29E-6A6A-88CE-951B9453F39B}"/>
                </a:ext>
              </a:extLst>
            </p:cNvPr>
            <p:cNvSpPr txBox="1">
              <a:spLocks noChangeArrowheads="1"/>
            </p:cNvSpPr>
            <p:nvPr/>
          </p:nvSpPr>
          <p:spPr bwMode="auto">
            <a:xfrm>
              <a:off x="1119637" y="127599"/>
              <a:ext cx="819510" cy="303721"/>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15000"/>
                </a:lnSpc>
                <a:spcAft>
                  <a:spcPts val="1000"/>
                </a:spcAft>
                <a:buNone/>
              </a:pPr>
              <a:r>
                <a:rPr lang="en-US" sz="1100">
                  <a:effectLst/>
                  <a:latin typeface="Cambria" panose="02040503050406030204" pitchFamily="18" charset="0"/>
                  <a:ea typeface="MS Mincho" panose="02020609040205080304" pitchFamily="49" charset="-128"/>
                  <a:cs typeface="Mangal" panose="02040503050203030202" pitchFamily="18" charset="0"/>
                </a:rPr>
                <a:t>Graph 3</a:t>
              </a:r>
              <a:endParaRPr lang="en-IN" sz="1100">
                <a:effectLst/>
                <a:latin typeface="Cambria" panose="02040503050406030204" pitchFamily="18" charset="0"/>
                <a:ea typeface="MS Mincho" panose="02020609040205080304" pitchFamily="49" charset="-128"/>
                <a:cs typeface="Mangal" panose="02040503050203030202" pitchFamily="18" charset="0"/>
              </a:endParaRPr>
            </a:p>
          </p:txBody>
        </p:sp>
      </p:grpSp>
      <p:sp>
        <p:nvSpPr>
          <p:cNvPr id="21" name="TextBox 20">
            <a:extLst>
              <a:ext uri="{FF2B5EF4-FFF2-40B4-BE49-F238E27FC236}">
                <a16:creationId xmlns:a16="http://schemas.microsoft.com/office/drawing/2014/main" id="{F34800E8-4BBD-D028-8CE0-668299212A19}"/>
              </a:ext>
            </a:extLst>
          </p:cNvPr>
          <p:cNvSpPr txBox="1"/>
          <p:nvPr/>
        </p:nvSpPr>
        <p:spPr>
          <a:xfrm>
            <a:off x="1267609" y="5075978"/>
            <a:ext cx="3716047" cy="1569660"/>
          </a:xfrm>
          <a:prstGeom prst="rect">
            <a:avLst/>
          </a:prstGeom>
          <a:noFill/>
        </p:spPr>
        <p:txBody>
          <a:bodyPr wrap="square">
            <a:spAutoFit/>
          </a:bodyPr>
          <a:lstStyle/>
          <a:p>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From Graph 3 we can observe, Most restaurants (200) are located within 3–5 km, while very few (43) are beyond 7 km</a:t>
            </a:r>
            <a:r>
              <a:rPr lang="en-US" sz="1200" dirty="0">
                <a:latin typeface="Sans Serif Collection" panose="020B0502040504020204" pitchFamily="34" charset="0"/>
                <a:ea typeface="Sans Serif Collection" panose="020B0502040504020204" pitchFamily="34" charset="0"/>
                <a:cs typeface="Sans Serif Collection" panose="020B0502040504020204" pitchFamily="34" charset="0"/>
              </a:rPr>
              <a:t>.</a:t>
            </a:r>
          </a:p>
          <a:p>
            <a:r>
              <a:rPr lang="en-US" sz="1200" dirty="0">
                <a:latin typeface="Sans Serif Collection" panose="020B0502040504020204" pitchFamily="34" charset="0"/>
                <a:ea typeface="Sans Serif Collection" panose="020B0502040504020204" pitchFamily="34" charset="0"/>
                <a:cs typeface="Sans Serif Collection" panose="020B0502040504020204" pitchFamily="34" charset="0"/>
              </a:rPr>
              <a:t>⚡ Impact on ranking: Restaurants closer to the customer (under 5 km) are ranked higher on Zomato since they ensure faster delivery and better customer experience, while distant ones appear lower unless highly rated or promoted</a:t>
            </a:r>
            <a:endParaRPr lang="en-IN" sz="1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pSp>
        <p:nvGrpSpPr>
          <p:cNvPr id="22" name="Group 21">
            <a:extLst>
              <a:ext uri="{FF2B5EF4-FFF2-40B4-BE49-F238E27FC236}">
                <a16:creationId xmlns:a16="http://schemas.microsoft.com/office/drawing/2014/main" id="{A873E3DB-FACC-89C0-02FD-00FFC9FB72B8}"/>
              </a:ext>
            </a:extLst>
          </p:cNvPr>
          <p:cNvGrpSpPr/>
          <p:nvPr/>
        </p:nvGrpSpPr>
        <p:grpSpPr>
          <a:xfrm>
            <a:off x="5100955" y="2723832"/>
            <a:ext cx="1990090" cy="1410335"/>
            <a:chOff x="-47854" y="-50033"/>
            <a:chExt cx="1990954" cy="1410838"/>
          </a:xfrm>
        </p:grpSpPr>
        <p:pic>
          <p:nvPicPr>
            <p:cNvPr id="23" name="Picture 22">
              <a:extLst>
                <a:ext uri="{FF2B5EF4-FFF2-40B4-BE49-F238E27FC236}">
                  <a16:creationId xmlns:a16="http://schemas.microsoft.com/office/drawing/2014/main" id="{A64D1D3A-DC05-D4DE-E950-E1973B310A2E}"/>
                </a:ext>
              </a:extLst>
            </p:cNvPr>
            <p:cNvPicPr>
              <a:picLocks noChangeAspect="1"/>
            </p:cNvPicPr>
            <p:nvPr/>
          </p:nvPicPr>
          <p:blipFill>
            <a:blip r:embed="rId5"/>
            <a:srcRect t="1682" b="1682"/>
            <a:stretch/>
          </p:blipFill>
          <p:spPr bwMode="auto">
            <a:xfrm>
              <a:off x="0" y="0"/>
              <a:ext cx="1943100" cy="1360805"/>
            </a:xfrm>
            <a:prstGeom prst="rect">
              <a:avLst/>
            </a:prstGeom>
            <a:noFill/>
            <a:ln>
              <a:solidFill>
                <a:schemeClr val="tx1"/>
              </a:solidFill>
            </a:ln>
            <a:extLst>
              <a:ext uri="{53640926-AAD7-44D8-BBD7-CCE9431645EC}">
                <a14:shadowObscured xmlns:a14="http://schemas.microsoft.com/office/drawing/2010/main"/>
              </a:ext>
            </a:extLst>
          </p:spPr>
        </p:pic>
        <p:sp>
          <p:nvSpPr>
            <p:cNvPr id="24" name="Text Box 2">
              <a:extLst>
                <a:ext uri="{FF2B5EF4-FFF2-40B4-BE49-F238E27FC236}">
                  <a16:creationId xmlns:a16="http://schemas.microsoft.com/office/drawing/2014/main" id="{A5FF61C4-620C-6326-0107-D81E2BB5EFD2}"/>
                </a:ext>
              </a:extLst>
            </p:cNvPr>
            <p:cNvSpPr txBox="1">
              <a:spLocks noChangeArrowheads="1"/>
            </p:cNvSpPr>
            <p:nvPr/>
          </p:nvSpPr>
          <p:spPr bwMode="auto">
            <a:xfrm>
              <a:off x="-47854" y="-50033"/>
              <a:ext cx="819510" cy="303721"/>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buNone/>
              </a:pPr>
              <a:r>
                <a:rPr lang="en-US" sz="1100">
                  <a:effectLst/>
                  <a:latin typeface="Cambria" panose="02040503050406030204" pitchFamily="18" charset="0"/>
                  <a:ea typeface="MS Mincho" panose="02020609040205080304" pitchFamily="49" charset="-128"/>
                  <a:cs typeface="Mangal" panose="02040503050203030202" pitchFamily="18" charset="0"/>
                </a:rPr>
                <a:t>Graph 4</a:t>
              </a:r>
              <a:endParaRPr lang="en-IN" sz="1100">
                <a:effectLst/>
                <a:latin typeface="Cambria" panose="02040503050406030204" pitchFamily="18" charset="0"/>
                <a:ea typeface="MS Mincho" panose="02020609040205080304" pitchFamily="49" charset="-128"/>
                <a:cs typeface="Mangal" panose="02040503050203030202" pitchFamily="18" charset="0"/>
              </a:endParaRPr>
            </a:p>
          </p:txBody>
        </p:sp>
      </p:grpSp>
      <p:sp>
        <p:nvSpPr>
          <p:cNvPr id="26" name="TextBox 25">
            <a:extLst>
              <a:ext uri="{FF2B5EF4-FFF2-40B4-BE49-F238E27FC236}">
                <a16:creationId xmlns:a16="http://schemas.microsoft.com/office/drawing/2014/main" id="{EB6E4D5C-3D0F-FA89-3883-FB51B6B25F4E}"/>
              </a:ext>
            </a:extLst>
          </p:cNvPr>
          <p:cNvSpPr txBox="1"/>
          <p:nvPr/>
        </p:nvSpPr>
        <p:spPr>
          <a:xfrm>
            <a:off x="6918427" y="1037499"/>
            <a:ext cx="3198962" cy="1754326"/>
          </a:xfrm>
          <a:prstGeom prst="rect">
            <a:avLst/>
          </a:prstGeom>
          <a:noFill/>
        </p:spPr>
        <p:txBody>
          <a:bodyPr wrap="square">
            <a:spAutoFit/>
          </a:bodyPr>
          <a:lstStyle/>
          <a:p>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The graph 4 shows 209 organic restaurants vs. 173 sponsored ones.</a:t>
            </a:r>
          </a:p>
          <a:p>
            <a:r>
              <a:rPr lang="en-US" sz="1200" dirty="0">
                <a:latin typeface="Sans Serif Collection" panose="020B0502040504020204" pitchFamily="34" charset="0"/>
                <a:ea typeface="Sans Serif Collection" panose="020B0502040504020204" pitchFamily="34" charset="0"/>
                <a:cs typeface="Sans Serif Collection" panose="020B0502040504020204" pitchFamily="34" charset="0"/>
              </a:rPr>
              <a:t>⚡ Impact on ranking: While organic restaurants rely on ratings, delivery speed, and offers to appear higher, sponsored restaurants get priority placement because they pay for visibility, often appearing at the top regardless of performance</a:t>
            </a:r>
            <a:endParaRPr lang="en-IN" sz="1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pSp>
        <p:nvGrpSpPr>
          <p:cNvPr id="27" name="Group 26">
            <a:extLst>
              <a:ext uri="{FF2B5EF4-FFF2-40B4-BE49-F238E27FC236}">
                <a16:creationId xmlns:a16="http://schemas.microsoft.com/office/drawing/2014/main" id="{8C0D05FB-D682-3B18-B1AC-5FA9AFFD9441}"/>
              </a:ext>
            </a:extLst>
          </p:cNvPr>
          <p:cNvGrpSpPr/>
          <p:nvPr/>
        </p:nvGrpSpPr>
        <p:grpSpPr>
          <a:xfrm>
            <a:off x="10160882" y="2841325"/>
            <a:ext cx="1942465" cy="1777365"/>
            <a:chOff x="0" y="-186085"/>
            <a:chExt cx="1942827" cy="1778493"/>
          </a:xfrm>
        </p:grpSpPr>
        <p:pic>
          <p:nvPicPr>
            <p:cNvPr id="28" name="Picture 27">
              <a:extLst>
                <a:ext uri="{FF2B5EF4-FFF2-40B4-BE49-F238E27FC236}">
                  <a16:creationId xmlns:a16="http://schemas.microsoft.com/office/drawing/2014/main" id="{F57485A7-6997-55BD-B6C1-8BFCF6408671}"/>
                </a:ext>
              </a:extLst>
            </p:cNvPr>
            <p:cNvPicPr>
              <a:picLocks noChangeAspect="1"/>
            </p:cNvPicPr>
            <p:nvPr/>
          </p:nvPicPr>
          <p:blipFill rotWithShape="1">
            <a:blip r:embed="rId6"/>
            <a:srcRect t="5993" r="14" b="3683"/>
            <a:stretch>
              <a:fillRect/>
            </a:stretch>
          </p:blipFill>
          <p:spPr bwMode="auto">
            <a:xfrm>
              <a:off x="0" y="-186085"/>
              <a:ext cx="1942827" cy="1778493"/>
            </a:xfrm>
            <a:prstGeom prst="rect">
              <a:avLst/>
            </a:prstGeom>
            <a:noFill/>
            <a:ln>
              <a:solidFill>
                <a:schemeClr val="tx1"/>
              </a:solidFill>
            </a:ln>
            <a:extLst>
              <a:ext uri="{53640926-AAD7-44D8-BBD7-CCE9431645EC}">
                <a14:shadowObscured xmlns:a14="http://schemas.microsoft.com/office/drawing/2010/main"/>
              </a:ext>
            </a:extLst>
          </p:spPr>
        </p:pic>
        <p:sp>
          <p:nvSpPr>
            <p:cNvPr id="29" name="Text Box 2">
              <a:extLst>
                <a:ext uri="{FF2B5EF4-FFF2-40B4-BE49-F238E27FC236}">
                  <a16:creationId xmlns:a16="http://schemas.microsoft.com/office/drawing/2014/main" id="{FF4B13CF-AC7F-1F17-D729-D7D967B60169}"/>
                </a:ext>
              </a:extLst>
            </p:cNvPr>
            <p:cNvSpPr txBox="1">
              <a:spLocks noChangeArrowheads="1"/>
            </p:cNvSpPr>
            <p:nvPr/>
          </p:nvSpPr>
          <p:spPr bwMode="auto">
            <a:xfrm>
              <a:off x="166149" y="62561"/>
              <a:ext cx="819510" cy="303721"/>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buNone/>
              </a:pPr>
              <a:r>
                <a:rPr lang="en-US" sz="1100">
                  <a:effectLst/>
                  <a:latin typeface="Cambria" panose="02040503050406030204" pitchFamily="18" charset="0"/>
                  <a:ea typeface="MS Mincho" panose="02020609040205080304" pitchFamily="49" charset="-128"/>
                  <a:cs typeface="Mangal" panose="02040503050203030202" pitchFamily="18" charset="0"/>
                </a:rPr>
                <a:t>Graph 5</a:t>
              </a:r>
              <a:endParaRPr lang="en-IN" sz="1100">
                <a:effectLst/>
                <a:latin typeface="Cambria" panose="02040503050406030204" pitchFamily="18" charset="0"/>
                <a:ea typeface="MS Mincho" panose="02020609040205080304" pitchFamily="49" charset="-128"/>
                <a:cs typeface="Mangal" panose="02040503050203030202" pitchFamily="18" charset="0"/>
              </a:endParaRPr>
            </a:p>
          </p:txBody>
        </p:sp>
      </p:grpSp>
      <p:sp>
        <p:nvSpPr>
          <p:cNvPr id="31" name="TextBox 30">
            <a:extLst>
              <a:ext uri="{FF2B5EF4-FFF2-40B4-BE49-F238E27FC236}">
                <a16:creationId xmlns:a16="http://schemas.microsoft.com/office/drawing/2014/main" id="{47471886-404E-A208-84B8-682BD1DE4931}"/>
              </a:ext>
            </a:extLst>
          </p:cNvPr>
          <p:cNvSpPr txBox="1"/>
          <p:nvPr/>
        </p:nvSpPr>
        <p:spPr>
          <a:xfrm>
            <a:off x="7169245" y="2808398"/>
            <a:ext cx="2913437" cy="2502223"/>
          </a:xfrm>
          <a:prstGeom prst="rect">
            <a:avLst/>
          </a:prstGeom>
          <a:noFill/>
        </p:spPr>
        <p:txBody>
          <a:bodyPr wrap="square">
            <a:spAutoFit/>
          </a:bodyPr>
          <a:lstStyle/>
          <a:p>
            <a:pPr algn="just">
              <a:lnSpc>
                <a:spcPct val="115000"/>
              </a:lnSpc>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The graph 5 shows restaurant filters split by organic vs. sponsored listings. Most visibility comes from filters like under ₹200–400, ratings (3.5+/4+), and offers (BOGO, deals of the day), with a big share boosted by sponsorship.</a:t>
            </a:r>
            <a:endParaRPr lang="en-IN"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buNone/>
            </a:pPr>
            <a:r>
              <a:rPr lang="en-US" sz="120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Impact on ranking: Sponsored restaurants get priority placement in these popular filters, while organic ones depend on ratings, pricing, and offers to appear higher.</a:t>
            </a:r>
            <a:endParaRPr lang="en-IN" sz="1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1621645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58FD1-D4F6-D590-E255-B9AD60C0439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7D26279-0947-F739-EC1B-8F013B475F36}"/>
              </a:ext>
            </a:extLst>
          </p:cNvPr>
          <p:cNvSpPr>
            <a:spLocks noGrp="1"/>
          </p:cNvSpPr>
          <p:nvPr>
            <p:ph type="body" sz="quarter" idx="10"/>
          </p:nvPr>
        </p:nvSpPr>
        <p:spPr/>
        <p:txBody>
          <a:bodyPr/>
          <a:lstStyle/>
          <a:p>
            <a:r>
              <a:rPr lang="en-US" dirty="0"/>
              <a:t>Conclusion</a:t>
            </a:r>
            <a:endParaRPr lang="en-IN" dirty="0"/>
          </a:p>
        </p:txBody>
      </p:sp>
      <p:sp>
        <p:nvSpPr>
          <p:cNvPr id="4" name="Rectangle 1">
            <a:extLst>
              <a:ext uri="{FF2B5EF4-FFF2-40B4-BE49-F238E27FC236}">
                <a16:creationId xmlns:a16="http://schemas.microsoft.com/office/drawing/2014/main" id="{4BDA3CAF-6743-B4C0-CB6C-08F72F2F218A}"/>
              </a:ext>
            </a:extLst>
          </p:cNvPr>
          <p:cNvSpPr>
            <a:spLocks noGrp="1" noChangeArrowheads="1"/>
          </p:cNvSpPr>
          <p:nvPr>
            <p:ph sz="quarter" idx="11"/>
          </p:nvPr>
        </p:nvSpPr>
        <p:spPr bwMode="auto">
          <a:xfrm>
            <a:off x="1302756" y="1504380"/>
            <a:ext cx="1021689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Zomato’s rankings are driven by </a:t>
            </a: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delivery time, ratings, promotions, and distance</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Sponsored listings</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often appear higher regardless of organic performance.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High-rated restaurants with active deals</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consistently dominate top results.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The system reflects a mix of </a:t>
            </a: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consumer preferences and platform-driven biases</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Greater </a:t>
            </a:r>
            <a:r>
              <a:rPr kumimoji="0" lang="en-US" altLang="en-US" sz="1400" b="1"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algorithmic transparency and fairness</a:t>
            </a:r>
            <a:r>
              <a:rPr kumimoji="0" lang="en-US" altLang="en-US" sz="1400" b="0" i="0" u="none" strike="noStrike" cap="none" normalizeH="0" baseline="0" dirty="0">
                <a:ln>
                  <a:noFill/>
                </a:ln>
                <a:solidFill>
                  <a:schemeClr val="tx1"/>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are needed for balanced visibility.</a:t>
            </a:r>
          </a:p>
        </p:txBody>
      </p:sp>
    </p:spTree>
    <p:extLst>
      <p:ext uri="{BB962C8B-B14F-4D97-AF65-F5344CB8AC3E}">
        <p14:creationId xmlns:p14="http://schemas.microsoft.com/office/powerpoint/2010/main" val="38584914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TotalTime>
  <Words>898</Words>
  <Application>Microsoft Office PowerPoint</Application>
  <PresentationFormat>Widescreen</PresentationFormat>
  <Paragraphs>75</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Cambria</vt:lpstr>
      <vt:lpstr>Sans Serif Collection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Chandan Kumar</dc:creator>
  <cp:lastModifiedBy>jyoti yadav</cp:lastModifiedBy>
  <cp:revision>7</cp:revision>
  <dcterms:created xsi:type="dcterms:W3CDTF">2025-08-29T17:01:00Z</dcterms:created>
  <dcterms:modified xsi:type="dcterms:W3CDTF">2025-08-29T18:40:34Z</dcterms:modified>
</cp:coreProperties>
</file>